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2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09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BIDINTELL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bid intelligence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commercial construction.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8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bid. Build the dataset. Own the decision layer of a $2.1T industry.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5"/>
                </a:solidFill>
              </a:rPr>
              <a:t>Shipping since Apr '26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SOLO 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5"/>
                </a:solidFill>
              </a:rPr>
              <a:t>23 yrs in the trade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AI-NATIVE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5"/>
                </a:solidFill>
              </a:rPr>
              <a:t>Built with Claude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APPLYING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5"/>
                </a:solidFill>
              </a:rPr>
              <a:t>a16z Speedrun SR007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$2.1T construction industry runs its most expensive decision on gut feel.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2606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4864" cy="242316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No pre-bid filter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</a:rPr>
              <a:t>Specialty subs get 20–40 invites a month. Every one gets the same treatment because there's no data telling them which to chase.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4700" y="2240280"/>
            <a:ext cx="2606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14700" y="2240280"/>
            <a:ext cx="54864" cy="242316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902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4 of 5 bids lose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890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</a:rPr>
              <a:t>Industry win rate is ~20%. That's 32 hours of estimating per bid, burned on losses. For a mid-size sub, that's $150K–$300K a year in wasted capacity.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2240280"/>
            <a:ext cx="2606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2240280"/>
            <a:ext cx="54864" cy="242316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514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Contract risk hidden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</a:rPr>
              <a:t>Pay-if-paid, broad flow-downs, schedule penalties — buried in 400-page docs nobody reads end-to-end until after award.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6522"/>
                </a:solidFill>
              </a:rPr>
              <a:t>Every estimator knows this. No product has solved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BidIntell scores every bid before a single estimating hour is spent.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2240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23088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Forward the invite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42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8B5"/>
                </a:solidFill>
              </a:rPr>
              <a:t>User forwards any bid email to BidIntell. AI reads the full doc set — specs, contract, scope, schedule.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31821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43000" y="3099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Score the 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456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8B5"/>
                </a:solidFill>
              </a:rPr>
              <a:t>BidIndex (0–100) across 5 components: Location · Trade Match · GC Relationship · Contract Terms · Competitive Pressure.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430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 the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3708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8B5"/>
                </a:solidFill>
              </a:rPr>
              <a:t>Won · Lost · Ghost · Declined. Every outcome trains the next score — for that user and for the network.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103120"/>
            <a:ext cx="3200400" cy="2514600"/>
          </a:xfrm>
          <a:prstGeom prst="rect">
            <a:avLst/>
          </a:prstGeom>
          <a:solidFill>
            <a:srgbClr val="122038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A8B5"/>
                </a:solidFill>
              </a:rPr>
              <a:t>BidIndex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70408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PASS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8B5"/>
                </a:solidFill>
              </a:rPr>
              <a:t>Low GC history · Contract risk: 3 flags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0" y="3685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Location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3749040"/>
            <a:ext cx="1737360" cy="73152"/>
          </a:xfrm>
          <a:prstGeom prst="rect">
            <a:avLst/>
          </a:prstGeom>
          <a:solidFill>
            <a:srgbClr val="24344A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3749040"/>
            <a:ext cx="1129284" cy="73152"/>
          </a:xfrm>
          <a:prstGeom prst="rect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0" y="384962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Trade 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3913632"/>
            <a:ext cx="1737360" cy="73152"/>
          </a:xfrm>
          <a:prstGeom prst="rect">
            <a:avLst/>
          </a:prstGeom>
          <a:solidFill>
            <a:srgbClr val="24344A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913632"/>
            <a:ext cx="1389888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40142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GC 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4078224"/>
            <a:ext cx="1737360" cy="73152"/>
          </a:xfrm>
          <a:prstGeom prst="rect">
            <a:avLst/>
          </a:prstGeom>
          <a:solidFill>
            <a:srgbClr val="24344A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29400" y="4078224"/>
            <a:ext cx="260604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4178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Contract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4242816"/>
            <a:ext cx="1737360" cy="73152"/>
          </a:xfrm>
          <a:prstGeom prst="rect">
            <a:avLst/>
          </a:prstGeom>
          <a:solidFill>
            <a:srgbClr val="24344A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4242816"/>
            <a:ext cx="4343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4343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4407408"/>
            <a:ext cx="1737360" cy="73152"/>
          </a:xfrm>
          <a:prstGeom prst="rect">
            <a:avLst/>
          </a:prstGeom>
          <a:solidFill>
            <a:srgbClr val="24344A"/>
          </a:solidFill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29400" y="4407408"/>
            <a:ext cx="694944" cy="73152"/>
          </a:xfrm>
          <a:prstGeom prst="rect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4727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26522"/>
                </a:solidFill>
              </a:rPr>
              <a:t>Minutes, not hours. Every bid, every user.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changed in the last 24 months.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060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685800" cy="6858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95144"/>
            <a:ext cx="393192" cy="39319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295144"/>
            <a:ext cx="393192" cy="393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LLMs can read bid docs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Until 2024, parsing a 400-page spec book cost engineering quarters. With modern LLMs + long context, it's one API call. The technical unlock is real and new.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14700" y="1874520"/>
            <a:ext cx="26060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589020" y="2148840"/>
            <a:ext cx="685800" cy="6858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324" y="2295144"/>
            <a:ext cx="393192" cy="39319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324" y="2295144"/>
            <a:ext cx="393192" cy="3931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8902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Solo founders can ship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5890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AI coding tools collapsed the team size needed to launch vertical SaaS. I built the full platform — landing page, app, billing, AI scoring, admin — alone.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2200" y="1874520"/>
            <a:ext cx="26060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446520" y="2148840"/>
            <a:ext cx="685800" cy="6858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2295144"/>
            <a:ext cx="393192" cy="393192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2295144"/>
            <a:ext cx="393192" cy="3931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4652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</a:rPr>
              <a:t>Construction margins tightened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446520" y="34747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Post-ZIRP, subs can't afford to bid everything. The willingness-to-pay for a qualification layer is finally there. The market is asking for this product.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26522"/>
                </a:solidFill>
              </a:rPr>
              <a:t>The window to build the default decision layer for construction opened 18 months ago. It's still open. Not for long.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$2.1T industry. 700K+ commercial contractors. Zero pre-bid intelligence layer.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846320" cy="68580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91440" cy="6858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500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2258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8B5"/>
                </a:solidFill>
              </a:rPr>
              <a:t>Commercial construction SaaS (Procore = $15B public comp).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846320" cy="68580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1440" cy="6858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1272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035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8B5"/>
                </a:solidFill>
              </a:rPr>
              <a:t>Bid/estimating tools for U.S. specialty subs, distributors, reps.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4846320" cy="68580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91440" cy="6858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8130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26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8B5"/>
                </a:solidFill>
              </a:rPr>
              <a:t>Specialty subs $2M–$20M revenue — the launch ICP. 12K firms at $99–$179/mo.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148840"/>
            <a:ext cx="3017520" cy="224028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THE EXPANSION PATH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743200"/>
            <a:ext cx="274320" cy="27432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724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Subs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2898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Who feels the pain most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3127248"/>
            <a:ext cx="274320" cy="27432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978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108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Distributors + Reps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282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Adjacent bid-decision market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3511296"/>
            <a:ext cx="274320" cy="27432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978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493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GC intel 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The dataset no one else has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3895344"/>
            <a:ext cx="274320" cy="27432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9788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877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Platform API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050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</a:rPr>
              <a:t>Score inside Procore, BC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8548"/>
                </a:solidFill>
              </a:rPr>
              <a:t>Every expansion is the same product scoring the same decision for a new segment.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FOUNDER-MARKET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spent 10+ years losing the bids this product prevents.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73152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2003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838"/>
                </a:solidFill>
              </a:rPr>
              <a:t>Started in commercial construction. Rose to senior role at a large CM firm.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73152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2013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52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838"/>
                </a:solidFill>
              </a:rPr>
              <a:t>Left the CM firm. Took over the family facility management business (FSI).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73152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2014–25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838"/>
                </a:solidFill>
              </a:rPr>
              <a:t>Built a Division 10 &amp; 12 specialty sub division from scratch to ~$8M revenue.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73152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838"/>
                </a:solidFill>
              </a:rPr>
              <a:t>Shut it down when margins collapsed. The pain that became this product.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354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838"/>
                </a:solidFill>
              </a:rPr>
              <a:t>Launched BidIntell. Solo founder. Built with Claude Code. Shipping every week.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94960" y="1920240"/>
            <a:ext cx="3291840" cy="3063240"/>
          </a:xfrm>
          <a:prstGeom prst="rect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522"/>
                </a:solidFill>
              </a:rPr>
              <a:t>WHY 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Domain fluency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8B5"/>
                </a:solidFill>
              </a:rPr>
              <a:t>I've read thousands of bid docs. I know what an estimator needs in the first 30 seconds.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Network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0" y="35844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8B5"/>
                </a:solidFill>
              </a:rPr>
              <a:t>20+ years of relationships with specialty subs, GCs, and manufacturer reps across the Midwest.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Shipping speed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0" y="44256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8B5"/>
                </a:solidFill>
              </a:rPr>
              <a:t>Solo + Claude Code + Netlify + Supabase = weekly feature velocity at pre-seed cost.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">
            <a:extLst>
              <a:ext uri="{FF2B5EF4-FFF2-40B4-BE49-F238E27FC236}">
                <a16:creationId xmlns:a16="http://schemas.microsoft.com/office/drawing/2014/main" id="{0FE86B53-D762-2CFA-1115-7E019372C038}"/>
              </a:ext>
            </a:extLst>
          </p:cNvPr>
          <p:cNvSpPr/>
          <p:nvPr/>
        </p:nvSpPr>
        <p:spPr>
          <a:xfrm flipV="1">
            <a:off x="1188720" y="2240280"/>
            <a:ext cx="1051560" cy="1051560"/>
          </a:xfrm>
          <a:prstGeom prst="line">
            <a:avLst/>
          </a:prstGeom>
          <a:noFill/>
          <a:ln w="19050">
            <a:solidFill>
              <a:srgbClr val="F265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E96520B-D5DD-E151-027E-3A1D951E5A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2263140" y="3131820"/>
            <a:ext cx="1051560" cy="1051560"/>
          </a:xfrm>
          <a:prstGeom prst="line">
            <a:avLst/>
          </a:prstGeom>
          <a:noFill/>
          <a:ln w="19050">
            <a:solidFill>
              <a:srgbClr val="F265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B9AF411A-851E-BB32-0BAA-5FE76DD5893D}"/>
              </a:ext>
            </a:extLst>
          </p:cNvPr>
          <p:cNvSpPr/>
          <p:nvPr/>
        </p:nvSpPr>
        <p:spPr>
          <a:xfrm>
            <a:off x="1303020" y="3386535"/>
            <a:ext cx="1005840" cy="1005840"/>
          </a:xfrm>
          <a:prstGeom prst="line">
            <a:avLst/>
          </a:prstGeom>
          <a:noFill/>
          <a:ln w="19050">
            <a:solidFill>
              <a:srgbClr val="F265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83080" y="3749040"/>
            <a:ext cx="1005840" cy="10058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scoring UI is the wedge. The outcome dataset is the company.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2240280"/>
            <a:ext cx="1005840" cy="1005840"/>
          </a:xfrm>
          <a:prstGeom prst="line">
            <a:avLst/>
          </a:prstGeom>
          <a:noFill/>
          <a:ln w="19050">
            <a:solidFill>
              <a:srgbClr val="F265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0" y="4251960"/>
            <a:ext cx="0" cy="0"/>
          </a:xfrm>
          <a:prstGeom prst="line">
            <a:avLst/>
          </a:prstGeom>
          <a:noFill/>
          <a:ln w="19050">
            <a:solidFill>
              <a:srgbClr val="F265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83080" y="1737360"/>
            <a:ext cx="1005840" cy="10058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scores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 bid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743200"/>
            <a:ext cx="1005840" cy="10058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gets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1005840" cy="10058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is sharper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6522"/>
                </a:solidFill>
              </a:rPr>
              <a:t>WHAT UNLOCKS AS DATA COMPOUNDS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6801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2305591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3 outcomes / GC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0" y="2305591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Competitive Pressure score activates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667425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66360" y="272621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20 total outcomes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2726215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Personal win/loss patterns surface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3088049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314683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50 total outcomes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3146839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User-specific scoring calibration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3508673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356746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10 active firms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3567463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Cross-user benchmarks begin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929297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98808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500+ firms · 2K+ logs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3988087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GC behavioral intelligence goes live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4349921"/>
            <a:ext cx="3749040" cy="347472"/>
          </a:xfrm>
          <a:prstGeom prst="rect">
            <a:avLst/>
          </a:prstGeom>
          <a:solidFill>
            <a:srgbClr val="122038"/>
          </a:solidFill>
          <a:ln w="635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4408711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548"/>
                </a:solidFill>
              </a:rPr>
              <a:t>5K+ firms · 20K+ logs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4408711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Two-sided market: GCs pay to be scored fairly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26522"/>
                </a:solidFill>
              </a:rPr>
              <a:t>This dataset doesn't exist anywhere else. Every outcome logged is compounding value.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TRACTION +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2151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Shipping.  Charging.  Learning. 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6522"/>
                </a:solidFill>
              </a:rPr>
              <a:t>WHERE WE 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267712"/>
            <a:ext cx="73152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838"/>
                </a:solidFill>
              </a:rPr>
              <a:t>Product live at bidintell.ai — launched April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06624"/>
            <a:ext cx="73152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838"/>
                </a:solidFill>
              </a:rPr>
              <a:t>Full stack shipped: AI scoring, 5-component BidIndex, contract risk detection, outcome tracking, billing, admin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73152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838"/>
                </a:solidFill>
              </a:rPr>
              <a:t>Early users from founder network validating the core workflow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73152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511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838"/>
                </a:solidFill>
              </a:rPr>
              <a:t>Active outbound: LinkedIn + Apollo sequences to owner/president titles at $2M–$20M specialty subs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73152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50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838"/>
                </a:solidFill>
              </a:rPr>
              <a:t>Clean competitive landscape — no direct competitor in pre-bid intelligence for commercial specialty subs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65066"/>
            <a:ext cx="3840480" cy="302405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397721"/>
            <a:ext cx="3840480" cy="914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62632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2838"/>
                </a:solidFill>
              </a:rPr>
              <a:t>PRICING + UNIT ECONOMICS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9208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</a:rPr>
              <a:t>Solo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99208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$49/mo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199208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1 seat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28468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</a:rPr>
              <a:t>Team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28468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$99/mo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284689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Up to 3 seats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57729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</a:rPr>
              <a:t>Company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57729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$179/mo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257729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Up to 8 seats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86990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86990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522"/>
                </a:solidFill>
              </a:rPr>
              <a:t>Custom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286990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9+ seats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226521"/>
            <a:ext cx="3291840" cy="0"/>
          </a:xfrm>
          <a:prstGeom prst="line">
            <a:avLst/>
          </a:prstGeom>
          <a:noFill/>
          <a:ln w="63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32996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B7B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59228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</a:rPr>
              <a:t>ACP (mid-tier)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59228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</a:rPr>
              <a:t>$1,188 ARR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77516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77516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</a:rPr>
              <a:t>~85% (API + hosting cost)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95804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</a:rPr>
              <a:t>CAC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395804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</a:rPr>
              <a:t>&lt; $300 (direct outbound)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414092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</a:rPr>
              <a:t>Payback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14092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</a:rPr>
              <a:t>&lt; 4 months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6141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</a:rPr>
              <a:t>Applying to Speedrun stage-honest: no ARR to defend, no enterprise sales cycle to explain. Just a live product, a clear wedge, and a founder who has been the customer for a decade.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ROADMAP +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bid scoring to the decision layer for a $2T industry.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07560"/>
            <a:ext cx="2011680" cy="278892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807560"/>
            <a:ext cx="2011680" cy="3200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0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628"/>
                </a:solidFill>
              </a:rPr>
              <a:t>LIVE 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6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6260"/>
            <a:ext cx="91440" cy="914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721960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5-component BidIndex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83731"/>
            <a:ext cx="91440" cy="914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69432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Contract risk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31204"/>
            <a:ext cx="91440" cy="914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416904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Outcome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78676"/>
            <a:ext cx="91440" cy="914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64376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Email-forward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26148"/>
            <a:ext cx="91440" cy="9144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111848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Subs · distributors · reps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1807560"/>
            <a:ext cx="2011680" cy="278892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06040" y="1807560"/>
            <a:ext cx="2011680" cy="320040"/>
          </a:xfrm>
          <a:prstGeom prst="rect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180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628"/>
                </a:solidFill>
              </a:rPr>
              <a:t>NEXT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226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Stickiness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88920" y="2836260"/>
            <a:ext cx="91440" cy="91440"/>
          </a:xfrm>
          <a:prstGeom prst="ellipse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2721960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Automated GC follow-ups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3183731"/>
            <a:ext cx="91440" cy="91440"/>
          </a:xfrm>
          <a:prstGeom prst="ellipse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0" y="3069432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Bid pipeline / Kanban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3531204"/>
            <a:ext cx="91440" cy="91440"/>
          </a:xfrm>
          <a:prstGeom prst="ellipse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0" y="3416904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Win-loss analytics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3878676"/>
            <a:ext cx="91440" cy="91440"/>
          </a:xfrm>
          <a:prstGeom prst="ellipse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0" y="3764376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Personal scoring calibration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4226148"/>
            <a:ext cx="91440" cy="91440"/>
          </a:xfrm>
          <a:prstGeom prst="ellipse">
            <a:avLst/>
          </a:prstGeom>
          <a:solidFill>
            <a:srgbClr val="FF8548"/>
          </a:solidFill>
          <a:ln w="12700">
            <a:solidFill>
              <a:srgbClr val="FF8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0" y="4111848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Capacity vs. pursuit view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1807560"/>
            <a:ext cx="2011680" cy="278892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807560"/>
            <a:ext cx="2011680" cy="320040"/>
          </a:xfrm>
          <a:prstGeom prst="rect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180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628"/>
                </a:solidFill>
              </a:rPr>
              <a:t>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226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GC Intelligence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937760" y="2836260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2721960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Crowdsourced GC behavior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183731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3069432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Ghost-rate benchmarks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3531204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3416904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Competitor tracking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878676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3764376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Cross-user patterns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4226148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4111848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Trade-association data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03720" y="1807560"/>
            <a:ext cx="2011680" cy="2788920"/>
          </a:xfrm>
          <a:prstGeom prst="rect">
            <a:avLst/>
          </a:prstGeom>
          <a:solidFill>
            <a:srgbClr val="122038"/>
          </a:solidFill>
          <a:ln w="9525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03720" y="1807560"/>
            <a:ext cx="2011680" cy="320040"/>
          </a:xfrm>
          <a:prstGeom prst="rect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03720" y="180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628"/>
                </a:solidFill>
              </a:rPr>
              <a:t>PLATFORM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86600" y="226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Default Layer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086600" y="2836260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23760" y="2721960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API into Procore / BC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86600" y="3183731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23760" y="3069432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Embedded score in plan rooms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086600" y="3531204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223760" y="3416904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Estimating tool integrations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86600" y="3878676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223760" y="3764376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Two-sided marketplace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86600" y="4226148"/>
            <a:ext cx="91440" cy="91440"/>
          </a:xfrm>
          <a:prstGeom prst="ellipse">
            <a:avLst/>
          </a:prstGeom>
          <a:solidFill>
            <a:srgbClr val="9AA8B5"/>
          </a:solidFill>
          <a:ln w="12700">
            <a:solidFill>
              <a:srgbClr val="9AA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223760" y="4111848"/>
            <a:ext cx="165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8B5"/>
                </a:solidFill>
              </a:rPr>
              <a:t>The industry standard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46355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8548"/>
                </a:solidFill>
              </a:rPr>
              <a:t>Every phase compounds the same dataset. The exit isn’t SaaS revenue — it’s the default score inside every bid decision in commercial construction.</a:t>
            </a:r>
            <a:endParaRPr lang="en-US" sz="1200" dirty="0"/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F34D6B99-8502-4241-A34E-4EF0BE3D2255}"/>
              </a:ext>
            </a:extLst>
          </p:cNvPr>
          <p:cNvSpPr/>
          <p:nvPr/>
        </p:nvSpPr>
        <p:spPr>
          <a:xfrm>
            <a:off x="2473960" y="3138170"/>
            <a:ext cx="127000" cy="127000"/>
          </a:xfrm>
          <a:prstGeom prst="chevron">
            <a:avLst/>
          </a:prstGeom>
          <a:solidFill>
            <a:srgbClr val="F265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A59EAEB4-AE02-4AA2-9A7D-56AD0203FE00}"/>
              </a:ext>
            </a:extLst>
          </p:cNvPr>
          <p:cNvSpPr/>
          <p:nvPr/>
        </p:nvSpPr>
        <p:spPr>
          <a:xfrm>
            <a:off x="4622800" y="3138170"/>
            <a:ext cx="127000" cy="127000"/>
          </a:xfrm>
          <a:prstGeom prst="chevron">
            <a:avLst/>
          </a:prstGeom>
          <a:solidFill>
            <a:srgbClr val="F265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AF299F97-66F0-495A-ADDE-FB183B60D25B}"/>
              </a:ext>
            </a:extLst>
          </p:cNvPr>
          <p:cNvSpPr/>
          <p:nvPr/>
        </p:nvSpPr>
        <p:spPr>
          <a:xfrm>
            <a:off x="6771640" y="3138170"/>
            <a:ext cx="127000" cy="127000"/>
          </a:xfrm>
          <a:prstGeom prst="chevron">
            <a:avLst/>
          </a:prstGeom>
          <a:solidFill>
            <a:srgbClr val="F265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57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26522"/>
                </a:solidFill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Speedrun. Why now. Why this cohort.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81480"/>
            <a:ext cx="8229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81480"/>
            <a:ext cx="73152" cy="9784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837512"/>
            <a:ext cx="457200" cy="4572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198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</a:rPr>
              <a:t>Distribution leverage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9655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</a:rPr>
              <a:t>The #1 bottleneck is getting in front of specialty subs faster than I can alone. Speedrun's founder network and a16z's portfolio open doors — Procore, Autodesk, BuildingConnected — that would otherwise take 18 months of cold outbound.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69616"/>
            <a:ext cx="8229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669616"/>
            <a:ext cx="73152" cy="9784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925648"/>
            <a:ext cx="457200" cy="4572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0079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793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</a:rPr>
              <a:t>Velocity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71600" y="305366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</a:rPr>
              <a:t>12 weeks in SF forces the pace this market rewards. I've been shipping solo with AI tooling — Speedrun compresses the next 6 months of GTM, hiring, and fundraising into a single cohort.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757752"/>
            <a:ext cx="82296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757752"/>
            <a:ext cx="73152" cy="9784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1520" y="4013784"/>
            <a:ext cx="457200" cy="457200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0960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8674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</a:rPr>
              <a:t>Capital at the right moment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71600" y="41418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B"/>
                </a:solidFill>
              </a:rPr>
              <a:t>$500K upfront + $500K follow-on is exactly the runway to prove the data moat hypothesis: get to 500 firms and 2,000+ outcome logs before the next raise. Not a penny more than needed, not a penny less.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797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26522"/>
                </a:solidFill>
              </a:rPr>
              <a:t>Capital is a commodity. Speedrun's unfair advantages are what we're applying for.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BIDINTELL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$2T industry makes its most expensive decision on gut feel. We score it.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8548"/>
                </a:solidFill>
              </a:rPr>
              <a:t>Ready to run.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86384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522"/>
                </a:solidFill>
              </a:rPr>
              <a:t>FOUNDER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Ryan Elder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522"/>
                </a:solidFill>
              </a:rPr>
              <a:t>WEBSITE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bidintell.ai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522"/>
                </a:solidFill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ryan@bidintell.ai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6522"/>
                </a:solidFill>
              </a:rPr>
              <a:t>APPLYING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Speedrun SR007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57247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8F9799-710E-4481-ADCF-15F236B42259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69cc78f5-6041-4178-9802-d1db3353d9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1318</Words>
  <Application>Microsoft Office PowerPoint</Application>
  <PresentationFormat>On-screen Show (16:9)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BidIntell — a16z Speedrun</dc:title>
  <dc:subject>PptxGenJS Presentation</dc:subject>
  <dc:creator>Ryan Elder</dc:creator>
  <cp:lastModifiedBy>Ryan Elder</cp:lastModifiedBy>
  <cp:revision>2</cp:revision>
  <dcterms:created xsi:type="dcterms:W3CDTF">2026-04-21T18:04:23Z</dcterms:created>
  <dcterms:modified xsi:type="dcterms:W3CDTF">2026-04-22T13:51:52Z</dcterms:modified>
</cp:coreProperties>
</file>