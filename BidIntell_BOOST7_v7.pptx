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9036F-DD11-445A-8B7F-8F50540066B9}" v="3" dt="2026-04-16T20:27:37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Elder" userId="0841b4ff-b127-4263-b5e2-9088e1f9be0c" providerId="ADAL" clId="{71BA6446-15FA-43EA-9A1D-A34ACCF7CF48}"/>
    <pc:docChg chg="undo custSel modSld modMainMaster">
      <pc:chgData name="Ryan Elder" userId="0841b4ff-b127-4263-b5e2-9088e1f9be0c" providerId="ADAL" clId="{71BA6446-15FA-43EA-9A1D-A34ACCF7CF48}" dt="2026-04-16T20:27:37.958" v="45"/>
      <pc:docMkLst>
        <pc:docMk/>
      </pc:docMkLst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56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6"/>
            <ac:spMk id="18" creationId="{00000000-0000-0000-0000-000000000000}"/>
          </ac:spMkLst>
        </pc:spChg>
      </pc:sldChg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57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7"/>
            <ac:spMk id="20" creationId="{00000000-0000-0000-0000-000000000000}"/>
          </ac:spMkLst>
        </pc:spChg>
      </pc:sldChg>
      <pc:sldChg chg="modSp mod setBg">
        <pc:chgData name="Ryan Elder" userId="0841b4ff-b127-4263-b5e2-9088e1f9be0c" providerId="ADAL" clId="{71BA6446-15FA-43EA-9A1D-A34ACCF7CF48}" dt="2026-04-16T20:27:37.958" v="45"/>
        <pc:sldMkLst>
          <pc:docMk/>
          <pc:sldMk cId="0" sldId="258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7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1:38" v="35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2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2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4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4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8"/>
            <ac:spMk id="5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2:29.573" v="37" actId="1076"/>
          <ac:spMkLst>
            <pc:docMk/>
            <pc:sldMk cId="0" sldId="258"/>
            <ac:spMk id="55" creationId="{00000000-0000-0000-0000-000000000000}"/>
          </ac:spMkLst>
        </pc:spChg>
      </pc:sldChg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59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59"/>
            <ac:spMk id="27" creationId="{00000000-0000-0000-0000-000000000000}"/>
          </ac:spMkLst>
        </pc:spChg>
      </pc:sldChg>
      <pc:sldChg chg="delSp modSp mod setBg">
        <pc:chgData name="Ryan Elder" userId="0841b4ff-b127-4263-b5e2-9088e1f9be0c" providerId="ADAL" clId="{71BA6446-15FA-43EA-9A1D-A34ACCF7CF48}" dt="2026-04-16T20:27:37.958" v="45"/>
        <pc:sldMkLst>
          <pc:docMk/>
          <pc:sldMk cId="0" sldId="260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Ryan Elder" userId="0841b4ff-b127-4263-b5e2-9088e1f9be0c" providerId="ADAL" clId="{71BA6446-15FA-43EA-9A1D-A34ACCF7CF48}" dt="2026-04-16T20:22:43.791" v="39" actId="478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38" creationId="{00000000-0000-0000-0000-000000000000}"/>
          </ac:spMkLst>
        </pc:spChg>
        <pc:spChg chg="del">
          <ac:chgData name="Ryan Elder" userId="0841b4ff-b127-4263-b5e2-9088e1f9be0c" providerId="ADAL" clId="{71BA6446-15FA-43EA-9A1D-A34ACCF7CF48}" dt="2026-04-16T20:22:48.095" v="40" actId="478"/>
          <ac:spMkLst>
            <pc:docMk/>
            <pc:sldMk cId="0" sldId="260"/>
            <ac:spMk id="3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4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4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0"/>
            <ac:spMk id="47" creationId="{00000000-0000-0000-0000-000000000000}"/>
          </ac:spMkLst>
        </pc:spChg>
      </pc:sldChg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61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7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3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3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1"/>
            <ac:spMk id="35" creationId="{00000000-0000-0000-0000-000000000000}"/>
          </ac:spMkLst>
        </pc:spChg>
      </pc:sldChg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62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2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3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4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2"/>
            <ac:spMk id="46" creationId="{00000000-0000-0000-0000-000000000000}"/>
          </ac:spMkLst>
        </pc:spChg>
      </pc:sldChg>
      <pc:sldChg chg="modSp mod setBg">
        <pc:chgData name="Ryan Elder" userId="0841b4ff-b127-4263-b5e2-9088e1f9be0c" providerId="ADAL" clId="{71BA6446-15FA-43EA-9A1D-A34ACCF7CF48}" dt="2026-04-16T20:27:37.958" v="45"/>
        <pc:sldMkLst>
          <pc:docMk/>
          <pc:sldMk cId="0" sldId="263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2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2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2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3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3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4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3"/>
            <ac:spMk id="44" creationId="{00000000-0000-0000-0000-000000000000}"/>
          </ac:spMkLst>
        </pc:spChg>
      </pc:sldChg>
      <pc:sldChg chg="modSp mod setBg">
        <pc:chgData name="Ryan Elder" userId="0841b4ff-b127-4263-b5e2-9088e1f9be0c" providerId="ADAL" clId="{71BA6446-15FA-43EA-9A1D-A34ACCF7CF48}" dt="2026-04-16T20:27:37.958" v="45"/>
        <pc:sldMkLst>
          <pc:docMk/>
          <pc:sldMk cId="0" sldId="264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3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4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4"/>
            <ac:spMk id="45" creationId="{00000000-0000-0000-0000-000000000000}"/>
          </ac:spMkLst>
        </pc:spChg>
      </pc:sldChg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65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1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21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25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2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5"/>
            <ac:spMk id="30" creationId="{00000000-0000-0000-0000-000000000000}"/>
          </ac:spMkLst>
        </pc:spChg>
      </pc:sldChg>
      <pc:sldChg chg="modSp setBg">
        <pc:chgData name="Ryan Elder" userId="0841b4ff-b127-4263-b5e2-9088e1f9be0c" providerId="ADAL" clId="{71BA6446-15FA-43EA-9A1D-A34ACCF7CF48}" dt="2026-04-16T20:27:37.958" v="45"/>
        <pc:sldMkLst>
          <pc:docMk/>
          <pc:sldMk cId="0" sldId="266"/>
        </pc:sldMkLst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3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9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18" creationId="{00000000-0000-0000-0000-000000000000}"/>
          </ac:spMkLst>
        </pc:spChg>
        <pc:spChg chg="mod">
          <ac:chgData name="Ryan Elder" userId="0841b4ff-b127-4263-b5e2-9088e1f9be0c" providerId="ADAL" clId="{71BA6446-15FA-43EA-9A1D-A34ACCF7CF48}" dt="2026-04-16T20:27:28.581" v="44"/>
          <ac:spMkLst>
            <pc:docMk/>
            <pc:sldMk cId="0" sldId="266"/>
            <ac:spMk id="24" creationId="{00000000-0000-0000-0000-000000000000}"/>
          </ac:spMkLst>
        </pc:spChg>
      </pc:sldChg>
      <pc:sldMasterChg chg="setBg modSldLayout">
        <pc:chgData name="Ryan Elder" userId="0841b4ff-b127-4263-b5e2-9088e1f9be0c" providerId="ADAL" clId="{71BA6446-15FA-43EA-9A1D-A34ACCF7CF48}" dt="2026-04-16T20:27:37.958" v="45"/>
        <pc:sldMasterMkLst>
          <pc:docMk/>
          <pc:sldMasterMk cId="0" sldId="2147483648"/>
        </pc:sldMasterMkLst>
        <pc:sldLayoutChg chg="setBg">
          <pc:chgData name="Ryan Elder" userId="0841b4ff-b127-4263-b5e2-9088e1f9be0c" providerId="ADAL" clId="{71BA6446-15FA-43EA-9A1D-A34ACCF7CF48}" dt="2026-04-16T20:27:37.958" v="45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20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BidIntell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FFFFFF"/>
                </a:solidFill>
              </a:rPr>
              <a:t>The bid intelligence platform</a:t>
            </a:r>
            <a:endParaRPr lang="en-US" sz="3800" dirty="0"/>
          </a:p>
          <a:p>
            <a:r>
              <a:rPr lang="en-US" sz="3800" b="1" dirty="0">
                <a:solidFill>
                  <a:srgbClr val="FFFFFF"/>
                </a:solidFill>
              </a:rPr>
              <a:t>for commercial construction.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26522"/>
                </a:solidFill>
              </a:rPr>
              <a:t>Score every opportunity before estimating starts.  ·  Build intelligence from every decision.  ·  Know which clients are worth pursuing.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B8CCE0"/>
                </a:solidFill>
              </a:rPr>
              <a:t>GO · REVIEW · PASS in under 60 seconds — personalized to your trade, region, and client history.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1645920" cy="3657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Ryan Elder, Founder  ·  bidintell.ai  ·  Overland Park, KS  ·  BOOST 7 Application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" y="4681728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Commercial launch April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" y="4910328"/>
            <a:ext cx="286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7A92A8"/>
                </a:solidFill>
              </a:rPr>
              <a:t>bidintell.ai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48000" y="4736592"/>
            <a:ext cx="9144" cy="32004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39440" y="4681728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Subs · Distributors · Mfg Reps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39440" y="4910328"/>
            <a:ext cx="286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7A92A8"/>
                </a:solidFill>
              </a:rPr>
              <a:t>Who it serves today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96000" y="4736592"/>
            <a:ext cx="9144" cy="32004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87440" y="4681728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In construction since 2003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7440" y="4910328"/>
            <a:ext cx="286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7A92A8"/>
                </a:solidFill>
              </a:rPr>
              <a:t>Founder-market fit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Commercial subcontractors waste hours deciding which bids</a:t>
            </a:r>
            <a:endParaRPr lang="en-US" sz="2200" dirty="0"/>
          </a:p>
          <a:p>
            <a:r>
              <a:rPr lang="en-US" sz="2200" b="1" dirty="0">
                <a:solidFill>
                  <a:srgbClr val="FFFFFF"/>
                </a:solidFill>
              </a:rPr>
              <a:t>to chase — and money on takeoffs they should never have started.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2578608" cy="248716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54864" cy="248716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82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0299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Hours wasted before a number is run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2487168"/>
            <a:ext cx="22860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The average go/no-bid decision takes 1–2 hours without a system. BidIntell does it in minutes — before a single takeoff hour is spent. Multiply that across 40+ bids a year and it's a real number.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901952"/>
            <a:ext cx="2578608" cy="248716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64408" y="1901952"/>
            <a:ext cx="54864" cy="248716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04825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20299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Contract risk buried in PDFs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29000" y="2487168"/>
            <a:ext cx="22860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Pay-if-paid clauses, uncapped liquidated damages, vague scope language — all buried in 200-page packages. Most subs never read them before committing estimating hours.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1901952"/>
            <a:ext cx="2578608" cy="248716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71616" y="1901952"/>
            <a:ext cx="54864" cy="248716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04825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696" y="20299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No institutional memory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36208" y="2487168"/>
            <a:ext cx="22860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Every estimator has a mental list of which clients are worth bidding. That knowledge lives in their head and walks out the door when they leave.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517136"/>
            <a:ext cx="8229600" cy="475488"/>
          </a:xfrm>
          <a:prstGeom prst="rect">
            <a:avLst/>
          </a:prstGeom>
          <a:solidFill>
            <a:srgbClr val="1A2E45"/>
          </a:solidFill>
          <a:ln w="635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48640" y="45171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rgbClr val="F26522"/>
                </a:solidFill>
              </a:rPr>
              <a:t>Subs win roughly 1 in 5 bids they price. At 1–2 hrs per go/no-bid decision and 40+ bids/year, that's 40–80 hours annually just deciding — before estimating starts.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</a:rPr>
              <a:t>A structured go/no-bid decision — before</a:t>
            </a:r>
            <a:endParaRPr lang="en-US" sz="2400" dirty="0"/>
          </a:p>
          <a:p>
            <a:r>
              <a:rPr lang="en-US" sz="2400" b="1" dirty="0">
                <a:solidFill>
                  <a:srgbClr val="FFFFFF"/>
                </a:solidFill>
              </a:rPr>
              <a:t>any estimating time is invested.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017520" cy="301752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685800" cy="31089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</a:rPr>
              <a:t>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BidIndex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800" b="1" dirty="0">
                <a:solidFill>
                  <a:srgbClr val="FFFFFF"/>
                </a:solidFill>
              </a:rPr>
              <a:t>83</a:t>
            </a:r>
            <a:endParaRPr lang="en-US" sz="8800" dirty="0"/>
          </a:p>
        </p:txBody>
      </p:sp>
      <p:sp>
        <p:nvSpPr>
          <p:cNvPr id="10" name="Shape 8"/>
          <p:cNvSpPr/>
          <p:nvPr/>
        </p:nvSpPr>
        <p:spPr>
          <a:xfrm>
            <a:off x="713232" y="3401568"/>
            <a:ext cx="2505456" cy="164592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3401568"/>
            <a:ext cx="2079528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3593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92A8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44368" y="3593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92A8"/>
                </a:solidFill>
              </a:rPr>
              <a:t>100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B8CCE0"/>
                </a:solidFill>
              </a:rPr>
              <a:t>Medical Office Renovation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B8CCE0"/>
                </a:solidFill>
              </a:rPr>
              <a:t>ABC Subcontractors · Overland Park, 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6276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How the Score Works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029968"/>
            <a:ext cx="5029200" cy="47548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2029968"/>
            <a:ext cx="54864" cy="4754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8768" y="2084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</a:rPr>
              <a:t>Location Fit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58768" y="2286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7A92A8"/>
                </a:solidFill>
              </a:rPr>
              <a:t>Distance from your HQ · service radius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44768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26522"/>
                </a:solidFill>
              </a:rPr>
              <a:t>30%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93408" y="2176272"/>
            <a:ext cx="1719072" cy="10972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93408" y="2176272"/>
            <a:ext cx="1581546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49056" y="21031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92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2578608"/>
            <a:ext cx="5029200" cy="47548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49040" y="2578608"/>
            <a:ext cx="54864" cy="4754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58768" y="2633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</a:rPr>
              <a:t>Keywords &amp; Contract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58768" y="2834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7A92A8"/>
                </a:solidFill>
              </a:rPr>
              <a:t>Keywords · clause detection · risk penalties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44768" y="26334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26522"/>
                </a:solidFill>
              </a:rPr>
              <a:t>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93408" y="2724912"/>
            <a:ext cx="1719072" cy="10972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93408" y="2724912"/>
            <a:ext cx="1340876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49056" y="26517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78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3127248"/>
            <a:ext cx="5029200" cy="47548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749040" y="3127248"/>
            <a:ext cx="54864" cy="4754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58768" y="31821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</a:rPr>
              <a:t>GC Relationship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58768" y="3383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7A92A8"/>
                </a:solidFill>
              </a:rPr>
              <a:t>Win rate · star rating · bid history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44768" y="31821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26522"/>
                </a:solidFill>
              </a:rPr>
              <a:t>25%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93408" y="3273552"/>
            <a:ext cx="1719072" cy="10972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93408" y="3273552"/>
            <a:ext cx="1289304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49056" y="320040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75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49040" y="3675888"/>
            <a:ext cx="5029200" cy="47548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49040" y="3675888"/>
            <a:ext cx="54864" cy="4754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58768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</a:rPr>
              <a:t>Trade Match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58768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7A92A8"/>
                </a:solidFill>
              </a:rPr>
              <a:t>CSI section codes · scope signals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44768" y="37307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26522"/>
                </a:solidFill>
              </a:rPr>
              <a:t>20%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93408" y="3822192"/>
            <a:ext cx="1719072" cy="10972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693410" y="3822192"/>
            <a:ext cx="1512783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49056" y="37490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88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4224528"/>
            <a:ext cx="5029200" cy="475488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749040" y="4224528"/>
            <a:ext cx="54864" cy="47548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58768" y="4279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26522"/>
                </a:solidFill>
              </a:rPr>
              <a:t>Competitive Pressure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858768" y="44805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7A92A8"/>
                </a:solidFill>
              </a:rPr>
              <a:t>Activates after 3 outcomes logged against a GC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44768" y="4279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26522"/>
                </a:solidFill>
              </a:rPr>
              <a:t>10%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93408" y="4370832"/>
            <a:ext cx="1719072" cy="10972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93408" y="43159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F26522"/>
                </a:solidFill>
              </a:rPr>
              <a:t>LOCKED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49040" y="49560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92A8"/>
                </a:solidFill>
              </a:rPr>
              <a:t>Weights are user-defined — no two companies score the same bid the same way. Presets: Relationship-First · Risk-Averse · Trade Specialist · Market-Volume.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WHAT IT DOES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Built, shipped, and in use. Not a prototype.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68496" cy="150876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4864" cy="150876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7099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PDF + Email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216712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Upload or forward any bid invite. AI extracts scope, contract terms, and risk clauses in under 60 seconds.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1481328"/>
            <a:ext cx="3968496" cy="150876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81728" y="1481328"/>
            <a:ext cx="54864" cy="150876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1536" y="17099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BidIndex Score (0–100)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16712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Personalized fit score across 5 components. GO · REVIEW · PASS before a single hour of estimating is spent.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3968496" cy="150876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200400"/>
            <a:ext cx="54864" cy="150876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564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429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Contract Risk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3232" y="388620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Flags pay-if-paid, uncapped liquidated damages, vague scope, and compressed timelines — before you commit.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81728" y="3200400"/>
            <a:ext cx="3968496" cy="150876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81728" y="3200400"/>
            <a:ext cx="54864" cy="150876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564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31536" y="3429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Outcome Tracking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388620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8CCE0"/>
                </a:solidFill>
              </a:rPr>
              <a:t>Log Won / Lost / Ghosted / Passed / No Bid. Every outcome makes the next recommendation more accurate.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0080" y="4663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26522"/>
                </a:solidFill>
              </a:rPr>
              <a:t>Also included: 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920240" y="46634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Client intelligence across 7 client types  ·  Competitive Pressure Score (activates after 3 outcomes)  ·  Team accounts  ·  Email forwarding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WHO IT SERVES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Three segments. One platform. All open today.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2578608" cy="340156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54864" cy="340156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1517904"/>
            <a:ext cx="1325880" cy="237744"/>
          </a:xfrm>
          <a:prstGeom prst="rect">
            <a:avLst/>
          </a:prstGeom>
          <a:solidFill>
            <a:srgbClr val="F2652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5179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26522"/>
                </a:solidFill>
              </a:rPr>
              <a:t>OPEN NOW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3856" y="1874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Commercial Subcontractors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3856" y="21305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92A8"/>
                </a:solidFill>
              </a:rPr>
              <a:t>Primary ICP — where we start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" y="242316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8CCE0"/>
                </a:solidFill>
              </a:rPr>
              <a:t>Mechanical, electrical, plumbing, drywall, flooring — any trade bidding commercial projects. Lead estimators and owners at firms doing $2M–$20M. Starting in Kansas City, expanding from there.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" y="3511296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34290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Go/no-bid decisions before takeoff starts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" y="3803904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3721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Track outcomes and build win-pattern data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4096512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40142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Institutional memory that survives staff turnover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64408" y="1389888"/>
            <a:ext cx="2578608" cy="340156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64408" y="1389888"/>
            <a:ext cx="54864" cy="340156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29000" y="1517904"/>
            <a:ext cx="1325880" cy="237744"/>
          </a:xfrm>
          <a:prstGeom prst="rect">
            <a:avLst/>
          </a:prstGeom>
          <a:solidFill>
            <a:srgbClr val="F2652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429000" y="15179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26522"/>
                </a:solidFill>
              </a:rPr>
              <a:t>OPEN NOW</a:t>
            </a:r>
            <a:endParaRPr lang="en-US" sz="8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874520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941064" y="1874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Distributors &amp; Suppliers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429000" y="242316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8CCE0"/>
                </a:solidFill>
              </a:rPr>
              <a:t>Material distributors and suppliers who quote commercial projects face the same qualification problem. Same workflow, same scoring logic — different product catalog.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465576" y="3511296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630168" y="34290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Same core problem: which quotes are worth pursuing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465576" y="3803904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630168" y="3721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Track which GCs actually award to new suppliers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465576" y="4096512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630168" y="40142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Natural expansion from the sub network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071616" y="1389888"/>
            <a:ext cx="2578608" cy="340156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071616" y="1389888"/>
            <a:ext cx="54864" cy="340156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236208" y="1517904"/>
            <a:ext cx="1325880" cy="237744"/>
          </a:xfrm>
          <a:prstGeom prst="rect">
            <a:avLst/>
          </a:prstGeom>
          <a:solidFill>
            <a:srgbClr val="F2652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236208" y="15179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26522"/>
                </a:solidFill>
              </a:rPr>
              <a:t>OPEN NOW</a:t>
            </a:r>
            <a:endParaRPr lang="en-US" sz="8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874520"/>
            <a:ext cx="384048" cy="38404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48272" y="1874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Manufacturers' Reps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6236208" y="242316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8CCE0"/>
                </a:solidFill>
              </a:rPr>
              <a:t>Reps submitting pricing for manufacturers face similar decision fatigue. Which specs get selected, which GCs value their products, where to focus effort.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272784" y="3511296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6437376" y="34290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Same intelligence model, different workflow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272784" y="3803904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6437376" y="3721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Spec selection tracking by client and region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272784" y="4096512"/>
            <a:ext cx="91440" cy="914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6437376" y="40142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Downstream from the sub network we're building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57200" y="4910328"/>
            <a:ext cx="8229600" cy="164592"/>
          </a:xfrm>
          <a:prstGeom prst="rect">
            <a:avLst/>
          </a:prstGeom>
          <a:solidFill>
            <a:srgbClr val="1A2E45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457200" y="49103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7A92A8"/>
                </a:solidFill>
              </a:rPr>
              <a:t>Long-term platform vision: a two-sided market connecting verified subs with GCs. Trigger: 500+ subs, 2,000+ client data points. Not today's focus.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THE INTELLIGENCE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Generic AI can read a PDF. The advantage is what accumulates</a:t>
            </a:r>
            <a:endParaRPr lang="en-US" dirty="0"/>
          </a:p>
          <a:p>
            <a:r>
              <a:rPr lang="en-US" b="1" dirty="0">
                <a:solidFill>
                  <a:srgbClr val="FFFFFF"/>
                </a:solidFill>
              </a:rPr>
              <a:t>when estimators score bids, log outcomes, and refine decisions over time.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78608" cy="283464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" cy="28346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1417320" cy="219456"/>
          </a:xfrm>
          <a:prstGeom prst="rect">
            <a:avLst/>
          </a:prstGeom>
          <a:solidFill>
            <a:srgbClr val="F2652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26522"/>
                </a:solidFill>
              </a:rPr>
              <a:t>STARTS DAY ONE</a:t>
            </a:r>
            <a:endParaRPr lang="en-US" sz="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2144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Outcome Data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761488"/>
            <a:ext cx="2231136" cy="1828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85292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8CCE0"/>
                </a:solidFill>
              </a:rPr>
              <a:t>Every logged outcome — win rate, margin, bidder count, decline reason — is data that has never existed in structured form for specialty subcontractors.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3858768"/>
            <a:ext cx="2231136" cy="62179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39136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92A8"/>
                </a:solidFill>
              </a:rPr>
              <a:t>Win rates · Margins · Bidder counts · Decline reasons · Ghosting patterns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64408" y="1828800"/>
            <a:ext cx="2578608" cy="283464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64408" y="1828800"/>
            <a:ext cx="54864" cy="28346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374136" y="1956816"/>
            <a:ext cx="1417320" cy="219456"/>
          </a:xfrm>
          <a:prstGeom prst="rect">
            <a:avLst/>
          </a:prstGeom>
          <a:solidFill>
            <a:srgbClr val="F2652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374136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26522"/>
                </a:solidFill>
              </a:rPr>
              <a:t>BUILDS OVER TIME</a:t>
            </a:r>
            <a:endParaRPr lang="en-US" sz="7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28600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59352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Client Intelligence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447288" y="2761488"/>
            <a:ext cx="2231136" cy="1828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447288" y="285292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8CCE0"/>
                </a:solidFill>
              </a:rPr>
              <a:t>User-labeled client responsiveness, ghost rates, payment notes, and scope clarity per client. Starts sparse — becomes irreplaceable. The longer a company uses BidIntell, the harder their account is to replicate elsewhere.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447288" y="3858768"/>
            <a:ext cx="2231136" cy="62179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520440" y="39136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92A8"/>
                </a:solidFill>
              </a:rPr>
              <a:t>Ghost rate · Client responsiveness (user-labeled) · Payment notes · Scope clarity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071616" y="1828800"/>
            <a:ext cx="2578608" cy="283464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71616" y="1828800"/>
            <a:ext cx="54864" cy="283464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181344" y="1956816"/>
            <a:ext cx="1417320" cy="219456"/>
          </a:xfrm>
          <a:prstGeom prst="rect">
            <a:avLst/>
          </a:prstGeom>
          <a:solidFill>
            <a:srgbClr val="F2652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181344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26522"/>
                </a:solidFill>
              </a:rPr>
              <a:t>REQUIRES SCALE</a:t>
            </a:r>
            <a:endParaRPr lang="en-US" sz="7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286000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6656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Cross-User Benchmarks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254496" y="2761488"/>
            <a:ext cx="2231136" cy="1828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254496" y="285292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8CCE0"/>
                </a:solidFill>
              </a:rPr>
              <a:t>Anonymized win rates per client × trade × market. The product gets smarter as more subs contribute outcomes. A network effect that requires user volume we are building toward.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254496" y="3858768"/>
            <a:ext cx="2231136" cy="62179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327648" y="39136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92A8"/>
                </a:solidFill>
              </a:rPr>
              <a:t>Win rate per GC · Competitive density · Market benchmarks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D1B2A"/>
                </a:solidFill>
              </a:rPr>
              <a:t>The advantage is not just AI scoring. It is the proprietary workflow data created when estimators use the product consistently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HOW THE PRODUCT GETS SMARTER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Every bid scored and outcome logged makes the next recommendation better.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" cy="40233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1371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User scores a bid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16093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AI extracts project details, applies personalized weights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92224"/>
            <a:ext cx="36576" cy="21945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402336" cy="40233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0299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BidIndex gives recommendation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22677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GO / REVIEW / PASS calibrated to their trade, clients, and risk tolerance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50592"/>
            <a:ext cx="36576" cy="21945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402336" cy="40233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" y="26883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User logs outcome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29260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Won / Lost / Ghosted / Passed / No Bid — margin, bidder count, decline reasons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36576" cy="21945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402336" cy="40233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33467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Intelligence layer improves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35844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Client behavior profiles update · Competitive Pressure activates · Margin Posture builds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767328"/>
            <a:ext cx="36576" cy="21945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402336" cy="40233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40050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Next recommendation more accurate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9264" y="4242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User trusts the score more → logs outcomes more → moat compounds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45152"/>
            <a:ext cx="8229600" cy="18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0" y="1325880"/>
            <a:ext cx="3291840" cy="356616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96128" y="144475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26522"/>
                </a:solidFill>
              </a:rPr>
              <a:t>What Unlocks As Usage Grows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14416" y="1874520"/>
            <a:ext cx="3035808" cy="475488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7568" y="191109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26522"/>
                </a:solidFill>
              </a:rPr>
              <a:t>≥3 outcomes / client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87568" y="211226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→ Competitive Pressure activates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14416" y="2441448"/>
            <a:ext cx="3035808" cy="475488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87568" y="2478024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26522"/>
                </a:solidFill>
              </a:rPr>
              <a:t>≥20 total outcomes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87568" y="267919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→ Project Twin Finder is useful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14416" y="3008376"/>
            <a:ext cx="3035808" cy="475488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87568" y="304495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26522"/>
                </a:solidFill>
              </a:rPr>
              <a:t>≥50 total outcomes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87568" y="324612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→ Override patterns surface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14416" y="3575304"/>
            <a:ext cx="3035808" cy="475488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87568" y="361188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26522"/>
                </a:solidFill>
              </a:rPr>
              <a:t>≥10 active accounts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87568" y="381304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→ Cross-user benchmarks begin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14416" y="4142232"/>
            <a:ext cx="3035808" cy="475488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87568" y="417880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26522"/>
                </a:solidFill>
              </a:rPr>
              <a:t>500+ subs · 2K+ outcomes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87568" y="437997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→ Two-sided market becomes viable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EARLY LEARNINGS &amp; LAUNCH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</a:rPr>
              <a:t>Where We 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Commercial launch — April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73936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Beta usage confirmed the core workflow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Beta insight: estimators want structured go/no-bid, not just faster takeoffs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450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Paid plans now live · 7-day free trial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Founding member pricing for life: FOUNDING30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Immediate goal: first paying commercial subcontractors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602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GTM: direct outreach + demo calls via Founder Network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164592" cy="16459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986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CCE0"/>
                </a:solidFill>
              </a:rPr>
              <a:t>BOOST accelerates buyer-side validation + distribution we cannot get alone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4023360" cy="4224528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023360" cy="43891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777240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</a:rPr>
              <a:t>Pricing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353312"/>
            <a:ext cx="3749040" cy="1078992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Solo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10912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1 seat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4264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26522"/>
                </a:solidFill>
              </a:rPr>
              <a:t>$49/mo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0" y="17556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7A92A8"/>
                </a:solidFill>
              </a:rPr>
              <a:t>$470/yr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201168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Unlimited analyses · BidIndex Score · PDF + email · Outcome tracking · Contract risk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542032"/>
            <a:ext cx="3749040" cy="1078992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Team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10912" y="2926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Up to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61518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26522"/>
                </a:solidFill>
              </a:rPr>
              <a:t>$99/mo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58000" y="29443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7A92A8"/>
                </a:solidFill>
              </a:rPr>
              <a:t>$950/yr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32004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Everything in Solo · Shared client database · Email forwarding · Team analytics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730752"/>
            <a:ext cx="3749040" cy="1078992"/>
          </a:xfrm>
          <a:prstGeom prst="rect">
            <a:avLst/>
          </a:prstGeom>
          <a:solidFill>
            <a:srgbClr val="1E3A52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10912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Company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10912" y="4114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7A92A8"/>
                </a:solidFill>
              </a:rPr>
              <a:t>Up to 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8039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26522"/>
                </a:solidFill>
              </a:rPr>
              <a:t>$179/mo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58000" y="4133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7A92A8"/>
                </a:solidFill>
              </a:rPr>
              <a:t>$1,720/yr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10912" y="43891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CCE0"/>
                </a:solidFill>
              </a:rPr>
              <a:t>Everything in Team · Company-wide reporting · Priority support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466344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7A92A8"/>
                </a:solidFill>
              </a:rPr>
              <a:t>Annual billing: save 20%  ·  Enterprise: 9+ seats, custom contract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663440"/>
            <a:ext cx="4114800" cy="347472"/>
          </a:xfrm>
          <a:prstGeom prst="rect">
            <a:avLst/>
          </a:prstGeom>
          <a:solidFill>
            <a:srgbClr val="1A2E45"/>
          </a:solidFill>
          <a:ln w="635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2064" y="466344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F26522"/>
                </a:solidFill>
              </a:rPr>
              <a:t>In commercial construction since 2003 — built BidIntell because this tool didn't exist when he needed it.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Four phases from scoring tool to construction intelligence platform.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92A8"/>
                </a:solidFill>
              </a:rPr>
              <a:t>* 5-dimension BidIndex is live — activates automatically as outcome data accumulates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1920240" cy="3529584"/>
          </a:xfrm>
          <a:prstGeom prst="rect">
            <a:avLst/>
          </a:prstGeom>
          <a:solidFill>
            <a:srgbClr val="F26522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0D1B2A"/>
                </a:solidFill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</a:rPr>
              <a:t>Core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1B2A"/>
                </a:solidFill>
              </a:rPr>
              <a:t>LIVE NOW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779776"/>
            <a:ext cx="1554480" cy="182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8529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→ AI bid scoring (GO/REVIEW/PASS)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31638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→ 5-component BidIndex Score*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474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→ User-defined weights + 4 presets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7856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→ Contract risk detection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40965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→ Outcome tracking (5 types)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4407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→ Win/loss analytics dashboard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2032" y="1389888"/>
            <a:ext cx="1920240" cy="3529584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42032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26522"/>
                </a:solidFill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633472" y="2121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Stickiness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33472" y="25054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26522"/>
                </a:solidFill>
              </a:rPr>
              <a:t>NEAR TERM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24912" y="2779776"/>
            <a:ext cx="1554480" cy="1828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51760" y="28529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Automated GC follow-up sequences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0" y="31638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Bid pipeline / Kanban view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51760" y="3474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Override capture + recalibration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37856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Client behavior cards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51760" y="40965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Project twin finder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26864" y="1389888"/>
            <a:ext cx="1920240" cy="3529584"/>
          </a:xfrm>
          <a:prstGeom prst="rect">
            <a:avLst/>
          </a:prstGeom>
          <a:solidFill>
            <a:srgbClr val="152236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26522"/>
                </a:solidFill>
              </a:rPr>
              <a:t>3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4718304" y="2121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GC Intelligence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25054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26522"/>
                </a:solidFill>
              </a:rPr>
              <a:t>SCALE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9744" y="2779776"/>
            <a:ext cx="1554480" cy="1828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6592" y="28529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Crowdsourced ghost rates + client reputation scores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31638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Competitor tracking by project type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3474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User-defined ghost timeline (default 60d)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36592" y="37856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Cross-user win-rate benchmarks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36592" y="40965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Anonymous aggregate benchmarks by trade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11696" y="1389888"/>
            <a:ext cx="1920240" cy="3529584"/>
          </a:xfrm>
          <a:prstGeom prst="rect">
            <a:avLst/>
          </a:prstGeom>
          <a:solidFill>
            <a:srgbClr val="0D182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11696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26522"/>
                </a:solidFill>
              </a:rPr>
              <a:t>4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6803136" y="2121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Platform + Data Products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03136" y="25054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26522"/>
                </a:solidFill>
              </a:rPr>
              <a:t>PLATFORM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94576" y="2779776"/>
            <a:ext cx="1554480" cy="18288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21424" y="28529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Labor capacity index by location/trade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21424" y="31638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Two-sided market (GC network access)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21424" y="3474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Plan room API integration (BuildingConnected, PlanHub)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21424" y="37856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Estimating + takeoff software API (Togal.ai, Stack, On Center)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21424" y="40965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CE0"/>
                </a:solidFill>
              </a:rPr>
              <a:t>→ Capacity vs. pursuit portfolio view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26522"/>
                </a:solidFill>
              </a:rPr>
              <a:t>WHY BOOST — 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We need validation and distribution. Suffolk can provide both.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786384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26522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98448" y="1517904"/>
            <a:ext cx="18288" cy="45720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554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426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Problem Validation from the Buyer Side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1389888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BidIntell is built for subs — but the data it collects is about GC behavior. Suffolk operates as a major GC and can help us validate whether the problem we're solving (subs avoiding low-quality clients) maps accurately to what GCs actually experience on their end.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98848" y="1481328"/>
            <a:ext cx="18288" cy="530352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249424"/>
            <a:ext cx="8229600" cy="786384"/>
          </a:xfrm>
          <a:prstGeom prst="rect">
            <a:avLst/>
          </a:prstGeom>
          <a:solidFill>
            <a:srgbClr val="1A2E45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" y="2249424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26522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298448" y="2414016"/>
            <a:ext cx="18288" cy="45720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245059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23225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Autodesk &amp; Procore Ecosystem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0" y="228600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Both are BOOST partners. Our Autodesk ISV application is in appeal. BOOST relationships accelerate those conversations — and Procore's subcontractor network is a potential future distribution and benchmark channel.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498848" y="2377440"/>
            <a:ext cx="18288" cy="530352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3145536"/>
            <a:ext cx="8229600" cy="786384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66928" y="3145536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26522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298448" y="3310128"/>
            <a:ext cx="18288" cy="45720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4752" y="334670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3218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Customer &amp; Channel Introductions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0" y="3182112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BOOST's operating partners include specialty contractors, distributors, and construction companies — our exact ICP. A warm introduction from Suffolk cuts through to buyers who don't respond to cold outreach and won't trial software they haven't heard of.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498848" y="3273552"/>
            <a:ext cx="18288" cy="530352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57200" y="4041648"/>
            <a:ext cx="8229600" cy="786384"/>
          </a:xfrm>
          <a:prstGeom prst="rect">
            <a:avLst/>
          </a:prstGeom>
          <a:solidFill>
            <a:srgbClr val="1A2E45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66928" y="4041648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26522"/>
                </a:solidFill>
              </a:rPr>
              <a:t>04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1298448" y="4206240"/>
            <a:ext cx="18288" cy="45720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752" y="424281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920240" y="4114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Category Credibility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0" y="4078224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CE0"/>
                </a:solidFill>
              </a:rPr>
              <a:t>We are creating a category — pre-estimating bid intelligence — that does not yet exist as a recognized product type. BOOST's built-world network provides the credibility and feedback to validate whether this framing resonates with buyers beyond our immediate market.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498848" y="4169664"/>
            <a:ext cx="18288" cy="530352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2A"/>
                </a:solidFill>
              </a:rPr>
              <a:t>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BidIntell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</a:rPr>
              <a:t>We've launched the product</a:t>
            </a:r>
            <a:endParaRPr lang="en-US" sz="2600" dirty="0"/>
          </a:p>
          <a:p>
            <a:r>
              <a:rPr lang="en-US" sz="2600" b="1" dirty="0">
                <a:solidFill>
                  <a:srgbClr val="FFFFFF"/>
                </a:solidFill>
              </a:rPr>
              <a:t>and proven the workflow.</a:t>
            </a:r>
            <a:endParaRPr lang="en-US" sz="2600" dirty="0"/>
          </a:p>
          <a:p>
            <a:r>
              <a:rPr lang="en-US" sz="2600" b="1" dirty="0">
                <a:solidFill>
                  <a:srgbClr val="FFFFFF"/>
                </a:solidFill>
              </a:rPr>
              <a:t>Now we scale 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8CCE0"/>
                </a:solidFill>
              </a:rPr>
              <a:t>BidIntell is live, tested with early users, and ready for its first paying customers. We need the right design partners, validation, and distribution to turn an insight into a category-defining construction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45920" cy="36576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7A92A8"/>
                </a:solidFill>
              </a:rPr>
              <a:t>Ryan Elder — Founder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95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26522"/>
                </a:solidFill>
              </a:rPr>
              <a:t>bidintell.ai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7A92A8"/>
                </a:solidFill>
              </a:rPr>
              <a:t>Overland Park, 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2286000" cy="3337560"/>
          </a:xfrm>
          <a:prstGeom prst="rect">
            <a:avLst/>
          </a:prstGeom>
          <a:solidFill>
            <a:srgbClr val="152236"/>
          </a:solidFill>
          <a:ln w="6350">
            <a:solidFill>
              <a:srgbClr val="1E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0424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26522"/>
                </a:solidFill>
              </a:rPr>
              <a:t>At a Glance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426464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47488" y="14081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Live product — April 2026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84708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7488" y="1828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Validated with beta users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26771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47488" y="224942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No direct competitors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688336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47488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Founder-market fit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10896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47488" y="30906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Clear expansion path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529584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47488" y="35112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</a:rPr>
              <a:t>BOOST 7 applicant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1760</Words>
  <Application>Microsoft Office PowerPoint</Application>
  <PresentationFormat>On-screen Show (16:9)</PresentationFormat>
  <Paragraphs>238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BidIntell — BOOST 7 Pitch Deck</dc:title>
  <dc:subject>PptxGenJS Presentation</dc:subject>
  <dc:creator>Ryan Elder</dc:creator>
  <cp:lastModifiedBy>Ryan Elder</cp:lastModifiedBy>
  <cp:revision>1</cp:revision>
  <cp:lastPrinted>2026-04-16T20:25:32Z</cp:lastPrinted>
  <dcterms:created xsi:type="dcterms:W3CDTF">2026-04-10T21:27:27Z</dcterms:created>
  <dcterms:modified xsi:type="dcterms:W3CDTF">2026-04-16T20:27:47Z</dcterms:modified>
</cp:coreProperties>
</file>