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yan Elder" userId="0841b4ff-b127-4263-b5e2-9088e1f9be0c" providerId="ADAL" clId="{71BA6446-15FA-43EA-9A1D-A34ACCF7CF48}"/>
    <pc:docChg chg="modSld">
      <pc:chgData name="Ryan Elder" userId="0841b4ff-b127-4263-b5e2-9088e1f9be0c" providerId="ADAL" clId="{71BA6446-15FA-43EA-9A1D-A34ACCF7CF48}" dt="2026-04-10T21:36:03.440" v="7" actId="20577"/>
      <pc:docMkLst>
        <pc:docMk/>
      </pc:docMkLst>
      <pc:sldChg chg="modSp mod">
        <pc:chgData name="Ryan Elder" userId="0841b4ff-b127-4263-b5e2-9088e1f9be0c" providerId="ADAL" clId="{71BA6446-15FA-43EA-9A1D-A34ACCF7CF48}" dt="2026-04-10T21:36:03.440" v="7" actId="20577"/>
        <pc:sldMkLst>
          <pc:docMk/>
          <pc:sldMk cId="0" sldId="264"/>
        </pc:sldMkLst>
        <pc:spChg chg="mod">
          <ac:chgData name="Ryan Elder" userId="0841b4ff-b127-4263-b5e2-9088e1f9be0c" providerId="ADAL" clId="{71BA6446-15FA-43EA-9A1D-A34ACCF7CF48}" dt="2026-04-10T21:36:03.440" v="7" actId="20577"/>
          <ac:spMkLst>
            <pc:docMk/>
            <pc:sldMk cId="0" sldId="264"/>
            <ac:spMk id="45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322003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475488" cy="475488"/>
          </a:xfrm>
          <a:prstGeom prst="rect">
            <a:avLst/>
          </a:prstGeom>
          <a:solidFill>
            <a:srgbClr val="F265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1B2A"/>
                </a:solidFill>
              </a:rPr>
              <a:t>BI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005840" y="420624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BidIntell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7772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</a:rPr>
              <a:t>The bid intelligence platform</a:t>
            </a:r>
            <a:endParaRPr lang="en-US" sz="3800" dirty="0"/>
          </a:p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</a:rPr>
              <a:t>for commercial construction.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457200" y="2487168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26522"/>
                </a:solidFill>
              </a:rPr>
              <a:t>Score every opportunity before estimating starts.  ·  Build intelligence from every decision.  ·  Know which clients are worth pursuing.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3017520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B8CCE0"/>
                </a:solidFill>
              </a:rPr>
              <a:t>GO · REVIEW · PASS in under 60 seconds — personalized to your trade, region, and client history.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3611880"/>
            <a:ext cx="1645920" cy="36576"/>
          </a:xfrm>
          <a:prstGeom prst="rect">
            <a:avLst/>
          </a:prstGeom>
          <a:solidFill>
            <a:srgbClr val="F265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" y="379476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7A92A8"/>
                </a:solidFill>
              </a:rPr>
              <a:t>Ryan Elder, Founder  ·  bidintell.ai  ·  Overland Park, KS  ·  BOOST 7 Application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07132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1440" y="4681728"/>
            <a:ext cx="2865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Commercial launch April 2026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91440" y="4910328"/>
            <a:ext cx="2865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7A92A8"/>
                </a:solidFill>
              </a:rPr>
              <a:t>bidintell.ai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048000" y="4736592"/>
            <a:ext cx="9144" cy="320040"/>
          </a:xfrm>
          <a:prstGeom prst="rect">
            <a:avLst/>
          </a:prstGeom>
          <a:solidFill>
            <a:srgbClr val="2A3A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139440" y="4681728"/>
            <a:ext cx="2865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Subs · Distributors · Mfg Reps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139440" y="4910328"/>
            <a:ext cx="2865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7A92A8"/>
                </a:solidFill>
              </a:rPr>
              <a:t>Who it serves today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6096000" y="4736592"/>
            <a:ext cx="9144" cy="320040"/>
          </a:xfrm>
          <a:prstGeom prst="rect">
            <a:avLst/>
          </a:prstGeom>
          <a:solidFill>
            <a:srgbClr val="2A3A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187440" y="4681728"/>
            <a:ext cx="2865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In construction since 2003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187440" y="4910328"/>
            <a:ext cx="2865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7A92A8"/>
                </a:solidFill>
              </a:rPr>
              <a:t>Founder-market fit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7132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26522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80467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Commercial subcontractors waste hours deciding which bids</a:t>
            </a:r>
            <a:endParaRPr lang="en-US" sz="2200" dirty="0"/>
          </a:p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to chase — and money on takeoffs they should never have started.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901952"/>
            <a:ext cx="2578608" cy="2487168"/>
          </a:xfrm>
          <a:prstGeom prst="rect">
            <a:avLst/>
          </a:prstGeom>
          <a:solidFill>
            <a:srgbClr val="152236"/>
          </a:solidFill>
          <a:ln w="6350">
            <a:solidFill>
              <a:srgbClr val="1E3A52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1901952"/>
            <a:ext cx="54864" cy="2487168"/>
          </a:xfrm>
          <a:prstGeom prst="rect">
            <a:avLst/>
          </a:prstGeom>
          <a:solidFill>
            <a:srgbClr val="F2652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048256"/>
            <a:ext cx="347472" cy="34747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97280" y="2029968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Hours wasted before a number is run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21792" y="2487168"/>
            <a:ext cx="2286000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B8CCE0"/>
                </a:solidFill>
              </a:rPr>
              <a:t>The average go/no-bid decision takes 1–2 hours without a system. BidIntell does it in minutes — before a single takeoff hour is spent. Multiply that across 40+ bids a year and it's a real number.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264408" y="1901952"/>
            <a:ext cx="2578608" cy="2487168"/>
          </a:xfrm>
          <a:prstGeom prst="rect">
            <a:avLst/>
          </a:prstGeom>
          <a:solidFill>
            <a:srgbClr val="152236"/>
          </a:solidFill>
          <a:ln w="6350">
            <a:solidFill>
              <a:srgbClr val="1E3A52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3264408" y="1901952"/>
            <a:ext cx="54864" cy="2487168"/>
          </a:xfrm>
          <a:prstGeom prst="rect">
            <a:avLst/>
          </a:prstGeom>
          <a:solidFill>
            <a:srgbClr val="F2652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47288" y="2048256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904488" y="2029968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Contract risk buried in PDFs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3429000" y="2487168"/>
            <a:ext cx="2286000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B8CCE0"/>
                </a:solidFill>
              </a:rPr>
              <a:t>Pay-if-paid clauses, uncapped liquidated damages, vague scope language — all buried in 200-page packages. Most subs never read them before committing estimating hours.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071616" y="1901952"/>
            <a:ext cx="2578608" cy="2487168"/>
          </a:xfrm>
          <a:prstGeom prst="rect">
            <a:avLst/>
          </a:prstGeom>
          <a:solidFill>
            <a:srgbClr val="152236"/>
          </a:solidFill>
          <a:ln w="6350">
            <a:solidFill>
              <a:srgbClr val="1E3A52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6071616" y="1901952"/>
            <a:ext cx="54864" cy="2487168"/>
          </a:xfrm>
          <a:prstGeom prst="rect">
            <a:avLst/>
          </a:prstGeom>
          <a:solidFill>
            <a:srgbClr val="F2652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4496" y="2048256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711696" y="2029968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No institutional memory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6236208" y="2487168"/>
            <a:ext cx="2286000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B8CCE0"/>
                </a:solidFill>
              </a:rPr>
              <a:t>Every estimator has a mental list of which clients are worth bidding. That knowledge lives in their head and walks out the door when they leave.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457200" y="4517136"/>
            <a:ext cx="8229600" cy="475488"/>
          </a:xfrm>
          <a:prstGeom prst="rect">
            <a:avLst/>
          </a:prstGeom>
          <a:solidFill>
            <a:srgbClr val="1A2E45"/>
          </a:solidFill>
          <a:ln w="6350">
            <a:solidFill>
              <a:srgbClr val="F265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6"/>
          <p:cNvSpPr/>
          <p:nvPr/>
        </p:nvSpPr>
        <p:spPr>
          <a:xfrm>
            <a:off x="548640" y="4517136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F26522"/>
                </a:solidFill>
              </a:rPr>
              <a:t>Subs win roughly 1 in 5 bids they price. At 1–2 hrs per go/no-bid decision and 40+ bids/year, that's 40–80 hours annually just deciding — before estimating starts.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7132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26522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804672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 structured go/no-bid decision — before</a:t>
            </a:r>
            <a:endParaRPr lang="en-US" sz="2400" dirty="0"/>
          </a:p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any estimating time is invested.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3017520" cy="3017520"/>
          </a:xfrm>
          <a:prstGeom prst="rect">
            <a:avLst/>
          </a:prstGeom>
          <a:solidFill>
            <a:srgbClr val="152236"/>
          </a:solidFill>
          <a:ln w="6350">
            <a:solidFill>
              <a:srgbClr val="1E3A52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658368" y="1965960"/>
            <a:ext cx="685800" cy="310896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58368" y="1965960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2A"/>
                </a:solidFill>
              </a:rPr>
              <a:t>GO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17320" y="199339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92A8"/>
                </a:solidFill>
              </a:rPr>
              <a:t>BidIndex Score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233172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0" b="1" dirty="0">
                <a:solidFill>
                  <a:srgbClr val="FFFFFF"/>
                </a:solidFill>
              </a:rPr>
              <a:t>83</a:t>
            </a:r>
            <a:endParaRPr lang="en-US" sz="8800" dirty="0"/>
          </a:p>
        </p:txBody>
      </p:sp>
      <p:sp>
        <p:nvSpPr>
          <p:cNvPr id="10" name="Shape 8"/>
          <p:cNvSpPr/>
          <p:nvPr/>
        </p:nvSpPr>
        <p:spPr>
          <a:xfrm>
            <a:off x="713232" y="3401568"/>
            <a:ext cx="2505456" cy="164592"/>
          </a:xfrm>
          <a:prstGeom prst="rect">
            <a:avLst/>
          </a:prstGeom>
          <a:solidFill>
            <a:srgbClr val="1E3A5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713232" y="3401568"/>
            <a:ext cx="2079528" cy="164592"/>
          </a:xfrm>
          <a:prstGeom prst="rect">
            <a:avLst/>
          </a:prstGeom>
          <a:solidFill>
            <a:srgbClr val="F265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76656" y="359359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2A8"/>
                </a:solidFill>
              </a:rPr>
              <a:t>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944368" y="3593592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2A8"/>
                </a:solidFill>
              </a:rPr>
              <a:t>100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94360" y="3858768"/>
            <a:ext cx="2724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8CCE0"/>
                </a:solidFill>
              </a:rPr>
              <a:t>Medical Office Renovation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B8CCE0"/>
                </a:solidFill>
              </a:rPr>
              <a:t>ABC General Contractors · Your Area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749040" y="1627632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How the Score Works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749040" y="2029968"/>
            <a:ext cx="5029200" cy="475488"/>
          </a:xfrm>
          <a:prstGeom prst="rect">
            <a:avLst/>
          </a:prstGeom>
          <a:solidFill>
            <a:srgbClr val="152236"/>
          </a:solidFill>
          <a:ln w="6350">
            <a:solidFill>
              <a:srgbClr val="1E3A52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749040" y="2029968"/>
            <a:ext cx="54864" cy="475488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858768" y="208483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Location Fit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858768" y="228600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A92A8"/>
                </a:solidFill>
              </a:rPr>
              <a:t>Distance from your HQ · service radius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14476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26522"/>
                </a:solidFill>
              </a:rPr>
              <a:t>30%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693408" y="2176272"/>
            <a:ext cx="1719072" cy="109728"/>
          </a:xfrm>
          <a:prstGeom prst="rect">
            <a:avLst/>
          </a:prstGeom>
          <a:solidFill>
            <a:srgbClr val="1E3A5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6693408" y="2176272"/>
            <a:ext cx="1581546" cy="109728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8449056" y="2103120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92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749040" y="2578608"/>
            <a:ext cx="5029200" cy="475488"/>
          </a:xfrm>
          <a:prstGeom prst="rect">
            <a:avLst/>
          </a:prstGeom>
          <a:solidFill>
            <a:srgbClr val="152236"/>
          </a:solidFill>
          <a:ln w="6350">
            <a:solidFill>
              <a:srgbClr val="1E3A52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3749040" y="2578608"/>
            <a:ext cx="54864" cy="475488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858768" y="263347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Keywords &amp; Contract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3858768" y="283464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A92A8"/>
                </a:solidFill>
              </a:rPr>
              <a:t>Keywords · clause detection · risk penalties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6144768" y="263347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26522"/>
                </a:solidFill>
              </a:rPr>
              <a:t>25%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693408" y="2724912"/>
            <a:ext cx="1719072" cy="109728"/>
          </a:xfrm>
          <a:prstGeom prst="rect">
            <a:avLst/>
          </a:prstGeom>
          <a:solidFill>
            <a:srgbClr val="1E3A5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6693408" y="2724912"/>
            <a:ext cx="1340876" cy="109728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8449056" y="2651760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78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749040" y="3127248"/>
            <a:ext cx="5029200" cy="475488"/>
          </a:xfrm>
          <a:prstGeom prst="rect">
            <a:avLst/>
          </a:prstGeom>
          <a:solidFill>
            <a:srgbClr val="152236"/>
          </a:solidFill>
          <a:ln w="6350">
            <a:solidFill>
              <a:srgbClr val="1E3A52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3749040" y="3127248"/>
            <a:ext cx="54864" cy="475488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3858768" y="318211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GC Relationship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3858768" y="338328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A92A8"/>
                </a:solidFill>
              </a:rPr>
              <a:t>Win rate · star rating · bid history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6144768" y="318211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26522"/>
                </a:solidFill>
              </a:rPr>
              <a:t>25%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693408" y="3273552"/>
            <a:ext cx="1719072" cy="109728"/>
          </a:xfrm>
          <a:prstGeom prst="rect">
            <a:avLst/>
          </a:prstGeom>
          <a:solidFill>
            <a:srgbClr val="1E3A5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6693408" y="3273552"/>
            <a:ext cx="1289304" cy="109728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8449056" y="3200400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75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3749040" y="3675888"/>
            <a:ext cx="5029200" cy="475488"/>
          </a:xfrm>
          <a:prstGeom prst="rect">
            <a:avLst/>
          </a:prstGeom>
          <a:solidFill>
            <a:srgbClr val="152236"/>
          </a:solidFill>
          <a:ln w="6350">
            <a:solidFill>
              <a:srgbClr val="1E3A52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3749040" y="3675888"/>
            <a:ext cx="54864" cy="475488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3858768" y="373075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Trade Match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3858768" y="393192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A92A8"/>
                </a:solidFill>
              </a:rPr>
              <a:t>CSI section codes · scope signals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6144768" y="373075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26522"/>
                </a:solidFill>
              </a:rPr>
              <a:t>20%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6693408" y="3822192"/>
            <a:ext cx="1719072" cy="109728"/>
          </a:xfrm>
          <a:prstGeom prst="rect">
            <a:avLst/>
          </a:prstGeom>
          <a:solidFill>
            <a:srgbClr val="1E3A5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6693408" y="3822192"/>
            <a:ext cx="1512783" cy="109728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8449056" y="3749040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88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3749040" y="4224528"/>
            <a:ext cx="5029200" cy="475488"/>
          </a:xfrm>
          <a:prstGeom prst="rect">
            <a:avLst/>
          </a:prstGeom>
          <a:solidFill>
            <a:srgbClr val="132030"/>
          </a:solidFill>
          <a:ln w="6350">
            <a:solidFill>
              <a:srgbClr val="1E3A52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3749040" y="4224528"/>
            <a:ext cx="54864" cy="475488"/>
          </a:xfrm>
          <a:prstGeom prst="rect">
            <a:avLst/>
          </a:prstGeom>
          <a:solidFill>
            <a:srgbClr val="F265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3858768" y="427939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26522"/>
                </a:solidFill>
              </a:rPr>
              <a:t>Competitive Pressure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3858768" y="448056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A92A8"/>
                </a:solidFill>
              </a:rPr>
              <a:t>Activates after 3 outcomes logged against a GC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6144768" y="427939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26522"/>
                </a:solidFill>
              </a:rPr>
              <a:t>10%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6693408" y="4370832"/>
            <a:ext cx="1719072" cy="109728"/>
          </a:xfrm>
          <a:prstGeom prst="rect">
            <a:avLst/>
          </a:prstGeom>
          <a:solidFill>
            <a:srgbClr val="1E3A5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6693408" y="4315968"/>
            <a:ext cx="17190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26522"/>
                </a:solidFill>
              </a:rPr>
              <a:t>LOCKED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3749040" y="4956048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7A92A8"/>
                </a:solidFill>
              </a:rPr>
              <a:t>Weights are user-defined — no two companies score the same bid the same way. Presets: Relationship-First · Risk-Averse · Trade Specialist · Market-Volume.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7132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26522"/>
                </a:solidFill>
              </a:rPr>
              <a:t>WHAT IT DOES TODAY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95528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Built, shipped, and in use. Not a prototype.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481328"/>
            <a:ext cx="3968496" cy="1508760"/>
          </a:xfrm>
          <a:prstGeom prst="rect">
            <a:avLst/>
          </a:prstGeom>
          <a:solidFill>
            <a:srgbClr val="152236"/>
          </a:solidFill>
          <a:ln w="6350">
            <a:solidFill>
              <a:srgbClr val="1E3A52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1481328"/>
            <a:ext cx="54864" cy="1508760"/>
          </a:xfrm>
          <a:prstGeom prst="rect">
            <a:avLst/>
          </a:prstGeom>
          <a:solidFill>
            <a:srgbClr val="F2652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73736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07008" y="1709928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PDF + Email Analysis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13232" y="2167128"/>
            <a:ext cx="3547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B8CCE0"/>
                </a:solidFill>
              </a:rPr>
              <a:t>Upload or forward any bid invite. AI extracts scope, contract terms, and risk clauses in under 60 seconds.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681728" y="1481328"/>
            <a:ext cx="3968496" cy="1508760"/>
          </a:xfrm>
          <a:prstGeom prst="rect">
            <a:avLst/>
          </a:prstGeom>
          <a:solidFill>
            <a:srgbClr val="152236"/>
          </a:solidFill>
          <a:ln w="6350">
            <a:solidFill>
              <a:srgbClr val="1E3A52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681728" y="1481328"/>
            <a:ext cx="54864" cy="1508760"/>
          </a:xfrm>
          <a:prstGeom prst="rect">
            <a:avLst/>
          </a:prstGeom>
          <a:solidFill>
            <a:srgbClr val="F2652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173736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431536" y="1709928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BidIndex Score (0–100)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4937760" y="2167128"/>
            <a:ext cx="3547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B8CCE0"/>
                </a:solidFill>
              </a:rPr>
              <a:t>Personalized fit score across 5 components. GO · REVIEW · PASS before a single hour of estimating is spent.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457200" y="3200400"/>
            <a:ext cx="3968496" cy="1508760"/>
          </a:xfrm>
          <a:prstGeom prst="rect">
            <a:avLst/>
          </a:prstGeom>
          <a:solidFill>
            <a:srgbClr val="152236"/>
          </a:solidFill>
          <a:ln w="6350">
            <a:solidFill>
              <a:srgbClr val="1E3A52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457200" y="3200400"/>
            <a:ext cx="54864" cy="1508760"/>
          </a:xfrm>
          <a:prstGeom prst="rect">
            <a:avLst/>
          </a:prstGeom>
          <a:solidFill>
            <a:srgbClr val="F2652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" y="3456432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207008" y="3429000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Contract Risk Detection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713232" y="3886200"/>
            <a:ext cx="3547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B8CCE0"/>
                </a:solidFill>
              </a:rPr>
              <a:t>Flags pay-if-paid, uncapped liquidated damages, vague scope, and compressed timelines — before you commit.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4681728" y="3200400"/>
            <a:ext cx="3968496" cy="1508760"/>
          </a:xfrm>
          <a:prstGeom prst="rect">
            <a:avLst/>
          </a:prstGeom>
          <a:solidFill>
            <a:srgbClr val="152236"/>
          </a:solidFill>
          <a:ln w="6350">
            <a:solidFill>
              <a:srgbClr val="1E3A52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6"/>
          <p:cNvSpPr/>
          <p:nvPr/>
        </p:nvSpPr>
        <p:spPr>
          <a:xfrm>
            <a:off x="4681728" y="3200400"/>
            <a:ext cx="54864" cy="1508760"/>
          </a:xfrm>
          <a:prstGeom prst="rect">
            <a:avLst/>
          </a:prstGeom>
          <a:solidFill>
            <a:srgbClr val="F2652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456432"/>
            <a:ext cx="365760" cy="36576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431536" y="3429000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Outcome Tracking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4937760" y="3886200"/>
            <a:ext cx="3547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B8CCE0"/>
                </a:solidFill>
              </a:rPr>
              <a:t>Log Won / Lost / Ghosted / Passed / No Bid. Every outcome makes the next recommendation more accurate.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57200" y="4663440"/>
            <a:ext cx="8229600" cy="347472"/>
          </a:xfrm>
          <a:prstGeom prst="rect">
            <a:avLst/>
          </a:prstGeom>
          <a:solidFill>
            <a:srgbClr val="152236"/>
          </a:solidFill>
          <a:ln w="6350">
            <a:solidFill>
              <a:srgbClr val="1E3A5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0"/>
          <p:cNvSpPr/>
          <p:nvPr/>
        </p:nvSpPr>
        <p:spPr>
          <a:xfrm>
            <a:off x="640080" y="4663440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26522"/>
                </a:solidFill>
              </a:rPr>
              <a:t>Also included: </a:t>
            </a:r>
            <a:endParaRPr lang="en-US" sz="1000" dirty="0"/>
          </a:p>
        </p:txBody>
      </p:sp>
      <p:sp>
        <p:nvSpPr>
          <p:cNvPr id="27" name="Text 21"/>
          <p:cNvSpPr/>
          <p:nvPr/>
        </p:nvSpPr>
        <p:spPr>
          <a:xfrm>
            <a:off x="1920240" y="4663440"/>
            <a:ext cx="6583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8CCE0"/>
                </a:solidFill>
              </a:rPr>
              <a:t>Client intelligence across 7 client types  ·  Competitive Pressure Score (activates after 3 outcomes)  ·  Team accounts  ·  Email forwarding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7132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26522"/>
                </a:solidFill>
              </a:rPr>
              <a:t>WHO IT SERVES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804672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Three segments. One platform. All open today.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389888"/>
            <a:ext cx="2578608" cy="3401568"/>
          </a:xfrm>
          <a:prstGeom prst="rect">
            <a:avLst/>
          </a:prstGeom>
          <a:solidFill>
            <a:srgbClr val="152236"/>
          </a:solidFill>
          <a:ln w="6350">
            <a:solidFill>
              <a:srgbClr val="1E3A52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1389888"/>
            <a:ext cx="54864" cy="3401568"/>
          </a:xfrm>
          <a:prstGeom prst="rect">
            <a:avLst/>
          </a:prstGeom>
          <a:solidFill>
            <a:srgbClr val="F265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21792" y="1517904"/>
            <a:ext cx="1325880" cy="237744"/>
          </a:xfrm>
          <a:prstGeom prst="rect">
            <a:avLst/>
          </a:prstGeom>
          <a:solidFill>
            <a:srgbClr val="F26522">
              <a:alpha val="1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21792" y="1517904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26522"/>
                </a:solidFill>
              </a:rPr>
              <a:t>OPEN NOW</a:t>
            </a:r>
            <a:endParaRPr lang="en-US" sz="8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874520"/>
            <a:ext cx="384048" cy="38404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33856" y="1874520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Commercial Subcontractors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33856" y="213055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2A8"/>
                </a:solidFill>
              </a:rPr>
              <a:t>Primary ICP — where we start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621792" y="2423160"/>
            <a:ext cx="2304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B8CCE0"/>
                </a:solidFill>
              </a:rPr>
              <a:t>Mechanical, electrical, plumbing, drywall, flooring — any trade bidding commercial projects. Lead estimators and owners at firms doing $2M–$20M. Starting in Kansas City, expanding from there.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58368" y="3511296"/>
            <a:ext cx="91440" cy="91440"/>
          </a:xfrm>
          <a:prstGeom prst="rect">
            <a:avLst/>
          </a:prstGeom>
          <a:solidFill>
            <a:srgbClr val="F265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822960" y="3429000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8CCE0"/>
                </a:solidFill>
              </a:rPr>
              <a:t>Go/no-bid decisions before takeoff starts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58368" y="3803904"/>
            <a:ext cx="91440" cy="91440"/>
          </a:xfrm>
          <a:prstGeom prst="rect">
            <a:avLst/>
          </a:prstGeom>
          <a:solidFill>
            <a:srgbClr val="F265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822960" y="37216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8CCE0"/>
                </a:solidFill>
              </a:rPr>
              <a:t>Track outcomes and build win-pattern data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4096512"/>
            <a:ext cx="91440" cy="91440"/>
          </a:xfrm>
          <a:prstGeom prst="rect">
            <a:avLst/>
          </a:prstGeom>
          <a:solidFill>
            <a:srgbClr val="F265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822960" y="4014216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8CCE0"/>
                </a:solidFill>
              </a:rPr>
              <a:t>Institutional memory that survives staff turnover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3264408" y="1389888"/>
            <a:ext cx="2578608" cy="3401568"/>
          </a:xfrm>
          <a:prstGeom prst="rect">
            <a:avLst/>
          </a:prstGeom>
          <a:solidFill>
            <a:srgbClr val="152236"/>
          </a:solidFill>
          <a:ln w="6350">
            <a:solidFill>
              <a:srgbClr val="1E3A52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7"/>
          <p:cNvSpPr/>
          <p:nvPr/>
        </p:nvSpPr>
        <p:spPr>
          <a:xfrm>
            <a:off x="3264408" y="1389888"/>
            <a:ext cx="54864" cy="3401568"/>
          </a:xfrm>
          <a:prstGeom prst="rect">
            <a:avLst/>
          </a:prstGeom>
          <a:solidFill>
            <a:srgbClr val="F265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8"/>
          <p:cNvSpPr/>
          <p:nvPr/>
        </p:nvSpPr>
        <p:spPr>
          <a:xfrm>
            <a:off x="3429000" y="1517904"/>
            <a:ext cx="1325880" cy="237744"/>
          </a:xfrm>
          <a:prstGeom prst="rect">
            <a:avLst/>
          </a:prstGeom>
          <a:solidFill>
            <a:srgbClr val="F26522">
              <a:alpha val="1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3429000" y="1517904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26522"/>
                </a:solidFill>
              </a:rPr>
              <a:t>OPEN NOW</a:t>
            </a:r>
            <a:endParaRPr lang="en-US" sz="800" dirty="0"/>
          </a:p>
        </p:txBody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47288" y="1874520"/>
            <a:ext cx="384048" cy="384048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3941064" y="1874520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Distributors &amp; Suppliers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3941064" y="213055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2A8"/>
                </a:solidFill>
              </a:rPr>
              <a:t>Adjacent segment — Phase 2+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3429000" y="2423160"/>
            <a:ext cx="2304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B8CCE0"/>
                </a:solidFill>
              </a:rPr>
              <a:t>Material distributors and suppliers who quote commercial projects face the same qualification problem. Same workflow, same scoring logic — different product catalog.</a:t>
            </a:r>
            <a:endParaRPr lang="en-US" sz="1050" dirty="0"/>
          </a:p>
        </p:txBody>
      </p:sp>
      <p:sp>
        <p:nvSpPr>
          <p:cNvPr id="27" name="Shape 23"/>
          <p:cNvSpPr/>
          <p:nvPr/>
        </p:nvSpPr>
        <p:spPr>
          <a:xfrm>
            <a:off x="3465576" y="3511296"/>
            <a:ext cx="91440" cy="91440"/>
          </a:xfrm>
          <a:prstGeom prst="rect">
            <a:avLst/>
          </a:prstGeom>
          <a:solidFill>
            <a:srgbClr val="F265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4"/>
          <p:cNvSpPr/>
          <p:nvPr/>
        </p:nvSpPr>
        <p:spPr>
          <a:xfrm>
            <a:off x="3630168" y="3429000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8CCE0"/>
                </a:solidFill>
              </a:rPr>
              <a:t>Same core problem: which quotes are worth pursuing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3465576" y="3803904"/>
            <a:ext cx="91440" cy="91440"/>
          </a:xfrm>
          <a:prstGeom prst="rect">
            <a:avLst/>
          </a:prstGeom>
          <a:solidFill>
            <a:srgbClr val="F265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6"/>
          <p:cNvSpPr/>
          <p:nvPr/>
        </p:nvSpPr>
        <p:spPr>
          <a:xfrm>
            <a:off x="3630168" y="37216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8CCE0"/>
                </a:solidFill>
              </a:rPr>
              <a:t>Track which GCs actually award to new suppliers</a:t>
            </a:r>
            <a:endParaRPr lang="en-US" sz="1000" dirty="0"/>
          </a:p>
        </p:txBody>
      </p:sp>
      <p:sp>
        <p:nvSpPr>
          <p:cNvPr id="31" name="Shape 27"/>
          <p:cNvSpPr/>
          <p:nvPr/>
        </p:nvSpPr>
        <p:spPr>
          <a:xfrm>
            <a:off x="3465576" y="4096512"/>
            <a:ext cx="91440" cy="91440"/>
          </a:xfrm>
          <a:prstGeom prst="rect">
            <a:avLst/>
          </a:prstGeom>
          <a:solidFill>
            <a:srgbClr val="F265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28"/>
          <p:cNvSpPr/>
          <p:nvPr/>
        </p:nvSpPr>
        <p:spPr>
          <a:xfrm>
            <a:off x="3630168" y="4014216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8CCE0"/>
                </a:solidFill>
              </a:rPr>
              <a:t>Natural expansion from the sub network</a:t>
            </a:r>
            <a:endParaRPr lang="en-US" sz="1000" dirty="0"/>
          </a:p>
        </p:txBody>
      </p:sp>
      <p:sp>
        <p:nvSpPr>
          <p:cNvPr id="33" name="Shape 29"/>
          <p:cNvSpPr/>
          <p:nvPr/>
        </p:nvSpPr>
        <p:spPr>
          <a:xfrm>
            <a:off x="6071616" y="1389888"/>
            <a:ext cx="2578608" cy="3401568"/>
          </a:xfrm>
          <a:prstGeom prst="rect">
            <a:avLst/>
          </a:prstGeom>
          <a:solidFill>
            <a:srgbClr val="152236"/>
          </a:solidFill>
          <a:ln w="6350">
            <a:solidFill>
              <a:srgbClr val="1E3A52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0"/>
          <p:cNvSpPr/>
          <p:nvPr/>
        </p:nvSpPr>
        <p:spPr>
          <a:xfrm>
            <a:off x="6071616" y="1389888"/>
            <a:ext cx="54864" cy="3401568"/>
          </a:xfrm>
          <a:prstGeom prst="rect">
            <a:avLst/>
          </a:prstGeom>
          <a:solidFill>
            <a:srgbClr val="F265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Shape 31"/>
          <p:cNvSpPr/>
          <p:nvPr/>
        </p:nvSpPr>
        <p:spPr>
          <a:xfrm>
            <a:off x="6236208" y="1517904"/>
            <a:ext cx="1325880" cy="237744"/>
          </a:xfrm>
          <a:prstGeom prst="rect">
            <a:avLst/>
          </a:prstGeom>
          <a:solidFill>
            <a:srgbClr val="F26522">
              <a:alpha val="1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2"/>
          <p:cNvSpPr/>
          <p:nvPr/>
        </p:nvSpPr>
        <p:spPr>
          <a:xfrm>
            <a:off x="6236208" y="1517904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26522"/>
                </a:solidFill>
              </a:rPr>
              <a:t>OPEN NOW</a:t>
            </a:r>
            <a:endParaRPr lang="en-US" sz="800" dirty="0"/>
          </a:p>
        </p:txBody>
      </p:sp>
      <p:pic>
        <p:nvPicPr>
          <p:cNvPr id="3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4496" y="1874520"/>
            <a:ext cx="384048" cy="384048"/>
          </a:xfrm>
          <a:prstGeom prst="rect">
            <a:avLst/>
          </a:prstGeom>
        </p:spPr>
      </p:pic>
      <p:sp>
        <p:nvSpPr>
          <p:cNvPr id="38" name="Text 33"/>
          <p:cNvSpPr/>
          <p:nvPr/>
        </p:nvSpPr>
        <p:spPr>
          <a:xfrm>
            <a:off x="6748272" y="1874520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Manufacturers' Reps</a:t>
            </a:r>
            <a:endParaRPr lang="en-US" sz="1300" dirty="0"/>
          </a:p>
        </p:txBody>
      </p:sp>
      <p:sp>
        <p:nvSpPr>
          <p:cNvPr id="39" name="Text 34"/>
          <p:cNvSpPr/>
          <p:nvPr/>
        </p:nvSpPr>
        <p:spPr>
          <a:xfrm>
            <a:off x="6748272" y="213055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2A8"/>
                </a:solidFill>
              </a:rPr>
              <a:t>Adjacent segment — Phase 2+</a:t>
            </a:r>
            <a:endParaRPr lang="en-US" sz="900" dirty="0"/>
          </a:p>
        </p:txBody>
      </p:sp>
      <p:sp>
        <p:nvSpPr>
          <p:cNvPr id="40" name="Text 35"/>
          <p:cNvSpPr/>
          <p:nvPr/>
        </p:nvSpPr>
        <p:spPr>
          <a:xfrm>
            <a:off x="6236208" y="2423160"/>
            <a:ext cx="2304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B8CCE0"/>
                </a:solidFill>
              </a:rPr>
              <a:t>Reps submitting pricing for manufacturers face similar decision fatigue. Which specs get selected, which GCs value their products, where to focus effort.</a:t>
            </a:r>
            <a:endParaRPr lang="en-US" sz="1050" dirty="0"/>
          </a:p>
        </p:txBody>
      </p:sp>
      <p:sp>
        <p:nvSpPr>
          <p:cNvPr id="41" name="Shape 36"/>
          <p:cNvSpPr/>
          <p:nvPr/>
        </p:nvSpPr>
        <p:spPr>
          <a:xfrm>
            <a:off x="6272784" y="3511296"/>
            <a:ext cx="91440" cy="91440"/>
          </a:xfrm>
          <a:prstGeom prst="rect">
            <a:avLst/>
          </a:prstGeom>
          <a:solidFill>
            <a:srgbClr val="F265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37"/>
          <p:cNvSpPr/>
          <p:nvPr/>
        </p:nvSpPr>
        <p:spPr>
          <a:xfrm>
            <a:off x="6437376" y="3429000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8CCE0"/>
                </a:solidFill>
              </a:rPr>
              <a:t>Same intelligence model, different workflow</a:t>
            </a:r>
            <a:endParaRPr lang="en-US" sz="1000" dirty="0"/>
          </a:p>
        </p:txBody>
      </p:sp>
      <p:sp>
        <p:nvSpPr>
          <p:cNvPr id="43" name="Shape 38"/>
          <p:cNvSpPr/>
          <p:nvPr/>
        </p:nvSpPr>
        <p:spPr>
          <a:xfrm>
            <a:off x="6272784" y="3803904"/>
            <a:ext cx="91440" cy="91440"/>
          </a:xfrm>
          <a:prstGeom prst="rect">
            <a:avLst/>
          </a:prstGeom>
          <a:solidFill>
            <a:srgbClr val="F265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39"/>
          <p:cNvSpPr/>
          <p:nvPr/>
        </p:nvSpPr>
        <p:spPr>
          <a:xfrm>
            <a:off x="6437376" y="37216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8CCE0"/>
                </a:solidFill>
              </a:rPr>
              <a:t>Spec selection tracking by client and region</a:t>
            </a:r>
            <a:endParaRPr lang="en-US" sz="1000" dirty="0"/>
          </a:p>
        </p:txBody>
      </p:sp>
      <p:sp>
        <p:nvSpPr>
          <p:cNvPr id="45" name="Shape 40"/>
          <p:cNvSpPr/>
          <p:nvPr/>
        </p:nvSpPr>
        <p:spPr>
          <a:xfrm>
            <a:off x="6272784" y="4096512"/>
            <a:ext cx="91440" cy="91440"/>
          </a:xfrm>
          <a:prstGeom prst="rect">
            <a:avLst/>
          </a:prstGeom>
          <a:solidFill>
            <a:srgbClr val="F265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41"/>
          <p:cNvSpPr/>
          <p:nvPr/>
        </p:nvSpPr>
        <p:spPr>
          <a:xfrm>
            <a:off x="6437376" y="4014216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8CCE0"/>
                </a:solidFill>
              </a:rPr>
              <a:t>Downstream from the sub network we're building</a:t>
            </a:r>
            <a:endParaRPr lang="en-US" sz="1000" dirty="0"/>
          </a:p>
        </p:txBody>
      </p:sp>
      <p:sp>
        <p:nvSpPr>
          <p:cNvPr id="47" name="Shape 42"/>
          <p:cNvSpPr/>
          <p:nvPr/>
        </p:nvSpPr>
        <p:spPr>
          <a:xfrm>
            <a:off x="457200" y="4910328"/>
            <a:ext cx="8229600" cy="164592"/>
          </a:xfrm>
          <a:prstGeom prst="rect">
            <a:avLst/>
          </a:prstGeom>
          <a:solidFill>
            <a:srgbClr val="1A2E45"/>
          </a:solidFill>
          <a:ln w="6350">
            <a:solidFill>
              <a:srgbClr val="1E3A5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3"/>
          <p:cNvSpPr/>
          <p:nvPr/>
        </p:nvSpPr>
        <p:spPr>
          <a:xfrm>
            <a:off x="457200" y="4910328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7A92A8"/>
                </a:solidFill>
              </a:rPr>
              <a:t>Long-term platform vision: a two-sided market connecting verified subs with GCs. Trigger: 500+ subs, 2,000+ client data points. Not today's focus.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7132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26522"/>
                </a:solidFill>
              </a:rPr>
              <a:t>THE INTELLIGENCE ADVANTAGE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95528"/>
            <a:ext cx="8229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Generic AI can read a PDF. The advantage is what accumulates</a:t>
            </a:r>
            <a:endParaRPr lang="en-US" sz="1800" dirty="0"/>
          </a:p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when estimators score bids, log outcomes, and refine decisions over time.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2578608" cy="2834640"/>
          </a:xfrm>
          <a:prstGeom prst="rect">
            <a:avLst/>
          </a:prstGeom>
          <a:solidFill>
            <a:srgbClr val="152236"/>
          </a:solidFill>
          <a:ln w="6350">
            <a:solidFill>
              <a:srgbClr val="1E3A52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54864" cy="2834640"/>
          </a:xfrm>
          <a:prstGeom prst="rect">
            <a:avLst/>
          </a:prstGeom>
          <a:solidFill>
            <a:srgbClr val="F265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1417320" cy="219456"/>
          </a:xfrm>
          <a:prstGeom prst="rect">
            <a:avLst/>
          </a:prstGeom>
          <a:solidFill>
            <a:srgbClr val="F26522">
              <a:alpha val="1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66928" y="1956816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26522"/>
                </a:solidFill>
              </a:rPr>
              <a:t>STARTS DAY ONE</a:t>
            </a:r>
            <a:endParaRPr lang="en-US" sz="75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286000"/>
            <a:ext cx="384048" cy="38404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52144" y="22860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Outcome Data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40080" y="2761488"/>
            <a:ext cx="2231136" cy="18288"/>
          </a:xfrm>
          <a:prstGeom prst="rect">
            <a:avLst/>
          </a:prstGeom>
          <a:solidFill>
            <a:srgbClr val="1E3A5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640080" y="2852928"/>
            <a:ext cx="22311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B8CCE0"/>
                </a:solidFill>
              </a:rPr>
              <a:t>Every logged outcome — win rate, margin, bidder count, decline reason — is data that has never existed in structured form for specialty subcontractors.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40080" y="3858768"/>
            <a:ext cx="2231136" cy="621792"/>
          </a:xfrm>
          <a:prstGeom prst="rect">
            <a:avLst/>
          </a:prstGeom>
          <a:solidFill>
            <a:srgbClr val="0D182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713232" y="3913632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2A8"/>
                </a:solidFill>
              </a:rPr>
              <a:t>Win rates · Margins · Bidder counts · Decline reasons · Ghosting patterns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3264408" y="1828800"/>
            <a:ext cx="2578608" cy="2834640"/>
          </a:xfrm>
          <a:prstGeom prst="rect">
            <a:avLst/>
          </a:prstGeom>
          <a:solidFill>
            <a:srgbClr val="152236"/>
          </a:solidFill>
          <a:ln w="6350">
            <a:solidFill>
              <a:srgbClr val="1E3A52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3264408" y="1828800"/>
            <a:ext cx="54864" cy="2834640"/>
          </a:xfrm>
          <a:prstGeom prst="rect">
            <a:avLst/>
          </a:prstGeom>
          <a:solidFill>
            <a:srgbClr val="F265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4"/>
          <p:cNvSpPr/>
          <p:nvPr/>
        </p:nvSpPr>
        <p:spPr>
          <a:xfrm>
            <a:off x="3374136" y="1956816"/>
            <a:ext cx="1417320" cy="219456"/>
          </a:xfrm>
          <a:prstGeom prst="rect">
            <a:avLst/>
          </a:prstGeom>
          <a:solidFill>
            <a:srgbClr val="F26522">
              <a:alpha val="1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3374136" y="1956816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26522"/>
                </a:solidFill>
              </a:rPr>
              <a:t>BUILDS OVER TIME</a:t>
            </a:r>
            <a:endParaRPr lang="en-US" sz="750" dirty="0"/>
          </a:p>
        </p:txBody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47288" y="2286000"/>
            <a:ext cx="384048" cy="384048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3959352" y="22860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Client Intelligence</a:t>
            </a:r>
            <a:endParaRPr lang="en-US" sz="1400" dirty="0"/>
          </a:p>
        </p:txBody>
      </p:sp>
      <p:sp>
        <p:nvSpPr>
          <p:cNvPr id="21" name="Shape 17"/>
          <p:cNvSpPr/>
          <p:nvPr/>
        </p:nvSpPr>
        <p:spPr>
          <a:xfrm>
            <a:off x="3447288" y="2761488"/>
            <a:ext cx="2231136" cy="18288"/>
          </a:xfrm>
          <a:prstGeom prst="rect">
            <a:avLst/>
          </a:prstGeom>
          <a:solidFill>
            <a:srgbClr val="1E3A5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8"/>
          <p:cNvSpPr/>
          <p:nvPr/>
        </p:nvSpPr>
        <p:spPr>
          <a:xfrm>
            <a:off x="3447288" y="2852928"/>
            <a:ext cx="22311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B8CCE0"/>
                </a:solidFill>
              </a:rPr>
              <a:t>User-labeled client responsiveness, ghost rates, payment notes, and scope clarity per client. Starts sparse — becomes irreplaceable. The longer a company uses BidIntell, the harder their account is to replicate elsewhere.</a:t>
            </a:r>
            <a:endParaRPr 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3447288" y="3858768"/>
            <a:ext cx="2231136" cy="621792"/>
          </a:xfrm>
          <a:prstGeom prst="rect">
            <a:avLst/>
          </a:prstGeom>
          <a:solidFill>
            <a:srgbClr val="0D182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0"/>
          <p:cNvSpPr/>
          <p:nvPr/>
        </p:nvSpPr>
        <p:spPr>
          <a:xfrm>
            <a:off x="3520440" y="3913632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2A8"/>
                </a:solidFill>
              </a:rPr>
              <a:t>Ghost rate · Client responsiveness (user-labeled) · Payment notes · Scope clarity</a:t>
            </a:r>
            <a:endParaRPr lang="en-US" sz="900" dirty="0"/>
          </a:p>
        </p:txBody>
      </p:sp>
      <p:sp>
        <p:nvSpPr>
          <p:cNvPr id="25" name="Shape 21"/>
          <p:cNvSpPr/>
          <p:nvPr/>
        </p:nvSpPr>
        <p:spPr>
          <a:xfrm>
            <a:off x="6071616" y="1828800"/>
            <a:ext cx="2578608" cy="2834640"/>
          </a:xfrm>
          <a:prstGeom prst="rect">
            <a:avLst/>
          </a:prstGeom>
          <a:solidFill>
            <a:srgbClr val="152236"/>
          </a:solidFill>
          <a:ln w="6350">
            <a:solidFill>
              <a:srgbClr val="1E3A52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2"/>
          <p:cNvSpPr/>
          <p:nvPr/>
        </p:nvSpPr>
        <p:spPr>
          <a:xfrm>
            <a:off x="6071616" y="1828800"/>
            <a:ext cx="54864" cy="2834640"/>
          </a:xfrm>
          <a:prstGeom prst="rect">
            <a:avLst/>
          </a:prstGeom>
          <a:solidFill>
            <a:srgbClr val="F265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3"/>
          <p:cNvSpPr/>
          <p:nvPr/>
        </p:nvSpPr>
        <p:spPr>
          <a:xfrm>
            <a:off x="6181344" y="1956816"/>
            <a:ext cx="1417320" cy="219456"/>
          </a:xfrm>
          <a:prstGeom prst="rect">
            <a:avLst/>
          </a:prstGeom>
          <a:solidFill>
            <a:srgbClr val="F26522">
              <a:alpha val="1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4"/>
          <p:cNvSpPr/>
          <p:nvPr/>
        </p:nvSpPr>
        <p:spPr>
          <a:xfrm>
            <a:off x="6181344" y="1956816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26522"/>
                </a:solidFill>
              </a:rPr>
              <a:t>REQUIRES SCALE</a:t>
            </a:r>
            <a:endParaRPr lang="en-US" sz="750" dirty="0"/>
          </a:p>
        </p:txBody>
      </p:sp>
      <p:pic>
        <p:nvPicPr>
          <p:cNvPr id="2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4496" y="2286000"/>
            <a:ext cx="384048" cy="384048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6766560" y="22860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Cross-User Benchmarks</a:t>
            </a:r>
            <a:endParaRPr lang="en-US" sz="1400" dirty="0"/>
          </a:p>
        </p:txBody>
      </p:sp>
      <p:sp>
        <p:nvSpPr>
          <p:cNvPr id="31" name="Shape 26"/>
          <p:cNvSpPr/>
          <p:nvPr/>
        </p:nvSpPr>
        <p:spPr>
          <a:xfrm>
            <a:off x="6254496" y="2761488"/>
            <a:ext cx="2231136" cy="18288"/>
          </a:xfrm>
          <a:prstGeom prst="rect">
            <a:avLst/>
          </a:prstGeom>
          <a:solidFill>
            <a:srgbClr val="1E3A5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27"/>
          <p:cNvSpPr/>
          <p:nvPr/>
        </p:nvSpPr>
        <p:spPr>
          <a:xfrm>
            <a:off x="6254496" y="2852928"/>
            <a:ext cx="22311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B8CCE0"/>
                </a:solidFill>
              </a:rPr>
              <a:t>Anonymized win rates per client × trade × market. The product gets smarter as more subs contribute outcomes. A network effect that requires user volume we are building toward.</a:t>
            </a:r>
            <a:endParaRPr lang="en-US" sz="1050" dirty="0"/>
          </a:p>
        </p:txBody>
      </p:sp>
      <p:sp>
        <p:nvSpPr>
          <p:cNvPr id="33" name="Shape 28"/>
          <p:cNvSpPr/>
          <p:nvPr/>
        </p:nvSpPr>
        <p:spPr>
          <a:xfrm>
            <a:off x="6254496" y="3858768"/>
            <a:ext cx="2231136" cy="621792"/>
          </a:xfrm>
          <a:prstGeom prst="rect">
            <a:avLst/>
          </a:prstGeom>
          <a:solidFill>
            <a:srgbClr val="0D182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29"/>
          <p:cNvSpPr/>
          <p:nvPr/>
        </p:nvSpPr>
        <p:spPr>
          <a:xfrm>
            <a:off x="6327648" y="3913632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2A8"/>
                </a:solidFill>
              </a:rPr>
              <a:t>Win rate per GC · Competitive density · Market benchmarks</a:t>
            </a:r>
            <a:endParaRPr lang="en-US" sz="900" dirty="0"/>
          </a:p>
        </p:txBody>
      </p:sp>
      <p:sp>
        <p:nvSpPr>
          <p:cNvPr id="35" name="Shape 30"/>
          <p:cNvSpPr/>
          <p:nvPr/>
        </p:nvSpPr>
        <p:spPr>
          <a:xfrm>
            <a:off x="457200" y="4773168"/>
            <a:ext cx="8229600" cy="274320"/>
          </a:xfrm>
          <a:prstGeom prst="rect">
            <a:avLst/>
          </a:prstGeom>
          <a:solidFill>
            <a:srgbClr val="F265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1"/>
          <p:cNvSpPr/>
          <p:nvPr/>
        </p:nvSpPr>
        <p:spPr>
          <a:xfrm>
            <a:off x="457200" y="4773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B2A"/>
                </a:solidFill>
              </a:rPr>
              <a:t>The advantage is not just AI scoring. It is the proprietary workflow data created when estimators use the product consistently over time.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7132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26522"/>
                </a:solidFill>
              </a:rPr>
              <a:t>HOW THE PRODUCT GETS SMARTER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95528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Every bid scored and outcome logged makes the next recommendation better.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402336" cy="402336"/>
          </a:xfrm>
          <a:prstGeom prst="rect">
            <a:avLst/>
          </a:prstGeom>
          <a:solidFill>
            <a:srgbClr val="F265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1B2A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9264" y="1371600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User scores a bid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69264" y="1609344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92A8"/>
                </a:solidFill>
              </a:rPr>
              <a:t>AI extracts project details, applies personalized weights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40080" y="1792224"/>
            <a:ext cx="36576" cy="219456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57200" y="2029968"/>
            <a:ext cx="402336" cy="402336"/>
          </a:xfrm>
          <a:prstGeom prst="rect">
            <a:avLst/>
          </a:prstGeom>
          <a:solidFill>
            <a:srgbClr val="F265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7200" y="20299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1B2A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69264" y="2029968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BidIndex gives recommendation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9264" y="226771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92A8"/>
                </a:solidFill>
              </a:rPr>
              <a:t>GO / REVIEW / PASS calibrated to their trade, clients, and risk tolerance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40080" y="2450592"/>
            <a:ext cx="36576" cy="219456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57200" y="2688336"/>
            <a:ext cx="402336" cy="402336"/>
          </a:xfrm>
          <a:prstGeom prst="rect">
            <a:avLst/>
          </a:prstGeom>
          <a:solidFill>
            <a:srgbClr val="F265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57200" y="26883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1B2A"/>
                </a:solidFill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69264" y="2688336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User logs outcome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69264" y="2926080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92A8"/>
                </a:solidFill>
              </a:rPr>
              <a:t>Won / Lost / Ghosted / Passed / No Bid — margin, bidder count, decline reasons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0080" y="3108960"/>
            <a:ext cx="36576" cy="219456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57200" y="3346704"/>
            <a:ext cx="402336" cy="402336"/>
          </a:xfrm>
          <a:prstGeom prst="rect">
            <a:avLst/>
          </a:prstGeom>
          <a:solidFill>
            <a:srgbClr val="F265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57200" y="33467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1B2A"/>
                </a:solidFill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69264" y="3346704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Intelligence layer improves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69264" y="3584448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92A8"/>
                </a:solidFill>
              </a:rPr>
              <a:t>Client behavior profiles update · Competitive Pressure activates · Margin Posture builds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40080" y="3767328"/>
            <a:ext cx="36576" cy="219456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57200" y="4005072"/>
            <a:ext cx="402336" cy="402336"/>
          </a:xfrm>
          <a:prstGeom prst="rect">
            <a:avLst/>
          </a:prstGeom>
          <a:solidFill>
            <a:srgbClr val="F265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57200" y="4005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1B2A"/>
                </a:solidFill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69264" y="400507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Next recommendation more accurate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969264" y="4242816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92A8"/>
                </a:solidFill>
              </a:rPr>
              <a:t>User trusts the score more → logs outcomes more → moat compounds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57200" y="4645152"/>
            <a:ext cx="8229600" cy="18288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5486400" y="1325880"/>
            <a:ext cx="3291840" cy="3566160"/>
          </a:xfrm>
          <a:prstGeom prst="rect">
            <a:avLst/>
          </a:prstGeom>
          <a:solidFill>
            <a:srgbClr val="152236"/>
          </a:solidFill>
          <a:ln w="6350">
            <a:solidFill>
              <a:srgbClr val="1E3A52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5596128" y="1444752"/>
            <a:ext cx="3072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26522"/>
                </a:solidFill>
              </a:rPr>
              <a:t>What Unlocks As Usage Grows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614416" y="1874520"/>
            <a:ext cx="3035808" cy="475488"/>
          </a:xfrm>
          <a:prstGeom prst="rect">
            <a:avLst/>
          </a:prstGeom>
          <a:solidFill>
            <a:srgbClr val="1E3A52"/>
          </a:solidFill>
          <a:ln w="6350">
            <a:solidFill>
              <a:srgbClr val="1E3A52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5687568" y="1911096"/>
            <a:ext cx="2889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26522"/>
                </a:solidFill>
              </a:rPr>
              <a:t>≥3 outcomes / client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687568" y="2112264"/>
            <a:ext cx="28895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8CCE0"/>
                </a:solidFill>
              </a:rPr>
              <a:t>→ Competitive Pressure activates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614416" y="2441448"/>
            <a:ext cx="3035808" cy="475488"/>
          </a:xfrm>
          <a:prstGeom prst="rect">
            <a:avLst/>
          </a:prstGeom>
          <a:solidFill>
            <a:srgbClr val="1E3A52"/>
          </a:solidFill>
          <a:ln w="6350">
            <a:solidFill>
              <a:srgbClr val="1E3A52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5687568" y="2478024"/>
            <a:ext cx="2889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26522"/>
                </a:solidFill>
              </a:rPr>
              <a:t>≥20 total outcomes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687568" y="2679192"/>
            <a:ext cx="28895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8CCE0"/>
                </a:solidFill>
              </a:rPr>
              <a:t>→ Project Twin Finder is useful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5614416" y="3008376"/>
            <a:ext cx="3035808" cy="475488"/>
          </a:xfrm>
          <a:prstGeom prst="rect">
            <a:avLst/>
          </a:prstGeom>
          <a:solidFill>
            <a:srgbClr val="1E3A52"/>
          </a:solidFill>
          <a:ln w="6350">
            <a:solidFill>
              <a:srgbClr val="1E3A52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5687568" y="3044952"/>
            <a:ext cx="2889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26522"/>
                </a:solidFill>
              </a:rPr>
              <a:t>≥50 total outcomes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687568" y="3246120"/>
            <a:ext cx="28895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8CCE0"/>
                </a:solidFill>
              </a:rPr>
              <a:t>→ Override patterns surface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614416" y="3575304"/>
            <a:ext cx="3035808" cy="475488"/>
          </a:xfrm>
          <a:prstGeom prst="rect">
            <a:avLst/>
          </a:prstGeom>
          <a:solidFill>
            <a:srgbClr val="1E3A52"/>
          </a:solidFill>
          <a:ln w="6350">
            <a:solidFill>
              <a:srgbClr val="1E3A52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5687568" y="3611880"/>
            <a:ext cx="2889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26522"/>
                </a:solidFill>
              </a:rPr>
              <a:t>≥10 active accounts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687568" y="3813048"/>
            <a:ext cx="28895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8CCE0"/>
                </a:solidFill>
              </a:rPr>
              <a:t>→ Cross-user benchmarks begin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614416" y="4142232"/>
            <a:ext cx="3035808" cy="475488"/>
          </a:xfrm>
          <a:prstGeom prst="rect">
            <a:avLst/>
          </a:prstGeom>
          <a:solidFill>
            <a:srgbClr val="1E3A52"/>
          </a:solidFill>
          <a:ln w="6350">
            <a:solidFill>
              <a:srgbClr val="1E3A52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5687568" y="4178808"/>
            <a:ext cx="2889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26522"/>
                </a:solidFill>
              </a:rPr>
              <a:t>500+ subs · 2K+ outcomes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5687568" y="4379976"/>
            <a:ext cx="28895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8CCE0"/>
                </a:solidFill>
              </a:rPr>
              <a:t>→ Two-sided market becomes viable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7132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26522"/>
                </a:solidFill>
              </a:rPr>
              <a:t>EARLY LEARNINGS &amp; LAUNCH PLAN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Where We Are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389888"/>
            <a:ext cx="164592" cy="164592"/>
          </a:xfrm>
          <a:prstGeom prst="rect">
            <a:avLst/>
          </a:prstGeom>
          <a:solidFill>
            <a:srgbClr val="F265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129844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8CCE0"/>
                </a:solidFill>
              </a:rPr>
              <a:t>Commercial launch — April 2026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73936"/>
            <a:ext cx="164592" cy="164592"/>
          </a:xfrm>
          <a:prstGeom prst="rect">
            <a:avLst/>
          </a:prstGeom>
          <a:solidFill>
            <a:srgbClr val="F265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31520" y="168249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8CCE0"/>
                </a:solidFill>
              </a:rPr>
              <a:t>Beta usage confirmed the core workflow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2157984"/>
            <a:ext cx="164592" cy="164592"/>
          </a:xfrm>
          <a:prstGeom prst="rect">
            <a:avLst/>
          </a:prstGeom>
          <a:solidFill>
            <a:srgbClr val="F265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31520" y="2066544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8CCE0"/>
                </a:solidFill>
              </a:rPr>
              <a:t>Beta insight: estimators want structured go/no-bid, not just faster takeoffs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2542032"/>
            <a:ext cx="164592" cy="164592"/>
          </a:xfrm>
          <a:prstGeom prst="rect">
            <a:avLst/>
          </a:prstGeom>
          <a:solidFill>
            <a:srgbClr val="F265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31520" y="2450592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8CCE0"/>
                </a:solidFill>
              </a:rPr>
              <a:t>Paid plans now live · 7-day free trial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2926080"/>
            <a:ext cx="164592" cy="164592"/>
          </a:xfrm>
          <a:prstGeom prst="rect">
            <a:avLst/>
          </a:prstGeom>
          <a:solidFill>
            <a:srgbClr val="F265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31520" y="283464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8CCE0"/>
                </a:solidFill>
              </a:rPr>
              <a:t>Founding member pricing for life: FOUNDING30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3310128"/>
            <a:ext cx="164592" cy="164592"/>
          </a:xfrm>
          <a:prstGeom prst="rect">
            <a:avLst/>
          </a:prstGeom>
          <a:solidFill>
            <a:srgbClr val="F265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31520" y="321868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8CCE0"/>
                </a:solidFill>
              </a:rPr>
              <a:t>Immediate goal: first paying commercial subcontractors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3694176"/>
            <a:ext cx="164592" cy="164592"/>
          </a:xfrm>
          <a:prstGeom prst="rect">
            <a:avLst/>
          </a:prstGeom>
          <a:solidFill>
            <a:srgbClr val="F265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31520" y="360273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8CCE0"/>
                </a:solidFill>
              </a:rPr>
              <a:t>GTM: direct outreach + demo calls via Founder Network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4078224"/>
            <a:ext cx="164592" cy="164592"/>
          </a:xfrm>
          <a:prstGeom prst="rect">
            <a:avLst/>
          </a:prstGeom>
          <a:solidFill>
            <a:srgbClr val="F265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31520" y="3986784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8CCE0"/>
                </a:solidFill>
              </a:rPr>
              <a:t>BOOST accelerates buyer-side validation + distribution we cannot get alone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754880" y="777240"/>
            <a:ext cx="4023360" cy="4224528"/>
          </a:xfrm>
          <a:prstGeom prst="rect">
            <a:avLst/>
          </a:prstGeom>
          <a:solidFill>
            <a:srgbClr val="152236"/>
          </a:solidFill>
          <a:ln w="6350">
            <a:solidFill>
              <a:srgbClr val="1E3A52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754880" y="777240"/>
            <a:ext cx="4023360" cy="438912"/>
          </a:xfrm>
          <a:prstGeom prst="rect">
            <a:avLst/>
          </a:prstGeom>
          <a:solidFill>
            <a:srgbClr val="F265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864608" y="777240"/>
            <a:ext cx="3803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</a:rPr>
              <a:t>Pricing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892040" y="1353312"/>
            <a:ext cx="3749040" cy="1078992"/>
          </a:xfrm>
          <a:prstGeom prst="rect">
            <a:avLst/>
          </a:prstGeom>
          <a:solidFill>
            <a:srgbClr val="1E3A52"/>
          </a:solidFill>
          <a:ln w="6350">
            <a:solidFill>
              <a:srgbClr val="1E3A52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010912" y="14447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Solo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010912" y="1737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92A8"/>
                </a:solidFill>
              </a:rPr>
              <a:t>1 seat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858000" y="1426464"/>
            <a:ext cx="16642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F26522"/>
                </a:solidFill>
              </a:rPr>
              <a:t>$49/mo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6858000" y="1755648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92A8"/>
                </a:solidFill>
              </a:rPr>
              <a:t>$470/yr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010912" y="2011680"/>
            <a:ext cx="3493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8CCE0"/>
                </a:solidFill>
              </a:rPr>
              <a:t>Unlimited analyses · BidIndex Score · PDF + email · Outcome tracking · Contract risk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892040" y="2542032"/>
            <a:ext cx="3749040" cy="1078992"/>
          </a:xfrm>
          <a:prstGeom prst="rect">
            <a:avLst/>
          </a:prstGeom>
          <a:solidFill>
            <a:srgbClr val="1E3A52"/>
          </a:solidFill>
          <a:ln w="6350">
            <a:solidFill>
              <a:srgbClr val="1E3A52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5010912" y="263347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Team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010912" y="292608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92A8"/>
                </a:solidFill>
              </a:rPr>
              <a:t>Up to 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858000" y="2615184"/>
            <a:ext cx="16642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F26522"/>
                </a:solidFill>
              </a:rPr>
              <a:t>$99/mo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6858000" y="2944368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92A8"/>
                </a:solidFill>
              </a:rPr>
              <a:t>$950/yr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010912" y="3200400"/>
            <a:ext cx="3493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8CCE0"/>
                </a:solidFill>
              </a:rPr>
              <a:t>Everything in Solo · Shared client database · Email forwarding · Team analytics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892040" y="3730752"/>
            <a:ext cx="3749040" cy="1078992"/>
          </a:xfrm>
          <a:prstGeom prst="rect">
            <a:avLst/>
          </a:prstGeom>
          <a:solidFill>
            <a:srgbClr val="1E3A52"/>
          </a:solidFill>
          <a:ln w="6350">
            <a:solidFill>
              <a:srgbClr val="1E3A52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5010912" y="382219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Company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010912" y="4114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92A8"/>
                </a:solidFill>
              </a:rPr>
              <a:t>Up to 8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858000" y="3803904"/>
            <a:ext cx="16642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F26522"/>
                </a:solidFill>
              </a:rPr>
              <a:t>$179/mo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858000" y="4133088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92A8"/>
                </a:solidFill>
              </a:rPr>
              <a:t>$1,720/yr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010912" y="4389120"/>
            <a:ext cx="3493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8CCE0"/>
                </a:solidFill>
              </a:rPr>
              <a:t>Everything in Team · Company-wide reporting · Priority support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864608" y="4663440"/>
            <a:ext cx="3803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7A92A8"/>
                </a:solidFill>
              </a:rPr>
              <a:t>Annual billing: save 20%  ·  Enterprise: 9+ seats, custom contract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57200" y="4663440"/>
            <a:ext cx="4114800" cy="347472"/>
          </a:xfrm>
          <a:prstGeom prst="rect">
            <a:avLst/>
          </a:prstGeom>
          <a:solidFill>
            <a:srgbClr val="1A2E45"/>
          </a:solidFill>
          <a:ln w="6350">
            <a:solidFill>
              <a:srgbClr val="F265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512064" y="4663440"/>
            <a:ext cx="40050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F26522"/>
                </a:solidFill>
              </a:rPr>
              <a:t>In commercial construction since 2003 — built BidIntell because this tool didn't exist when he needed it.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7132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26522"/>
                </a:solidFill>
              </a:rPr>
              <a:t>ROADMAP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95528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Four phases from scoring tool to construction intelligence platform.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4983480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7A92A8"/>
                </a:solidFill>
              </a:rPr>
              <a:t>* 5-dimension BidIndex is live — activates automatically as outcome data accumulates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" y="1389888"/>
            <a:ext cx="1920240" cy="3529584"/>
          </a:xfrm>
          <a:prstGeom prst="rect">
            <a:avLst/>
          </a:prstGeom>
          <a:solidFill>
            <a:srgbClr val="F26522"/>
          </a:solidFill>
          <a:ln/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146304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0D1B2A"/>
                </a:solidFill>
              </a:rPr>
              <a:t>1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48640" y="2121408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2A"/>
                </a:solidFill>
              </a:rPr>
              <a:t>Core Platform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25054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D1B2A"/>
                </a:solidFill>
              </a:rPr>
              <a:t>LIVE NOW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2779776"/>
            <a:ext cx="1554480" cy="18288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66928" y="2852928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1B2A"/>
                </a:solidFill>
              </a:rPr>
              <a:t>→ AI bid scoring (GO/REVIEW/PASS)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66928" y="3163824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1B2A"/>
                </a:solidFill>
              </a:rPr>
              <a:t>→ 5-component BidIndex Score*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66928" y="3474720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1B2A"/>
                </a:solidFill>
              </a:rPr>
              <a:t>→ User-defined weights + 4 presets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66928" y="3785616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1B2A"/>
                </a:solidFill>
              </a:rPr>
              <a:t>→ Contract risk detection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66928" y="4096512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1B2A"/>
                </a:solidFill>
              </a:rPr>
              <a:t>→ Outcome tracking (5 types)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66928" y="4407408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1B2A"/>
                </a:solidFill>
              </a:rPr>
              <a:t>→ Win/loss analytics dashboard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542032" y="1389888"/>
            <a:ext cx="1920240" cy="3529584"/>
          </a:xfrm>
          <a:prstGeom prst="rect">
            <a:avLst/>
          </a:prstGeom>
          <a:solidFill>
            <a:srgbClr val="1A2E45"/>
          </a:solidFill>
          <a:ln/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2542032" y="146304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26522"/>
                </a:solidFill>
              </a:rPr>
              <a:t>2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2633472" y="2121408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Stickiness Layer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633472" y="25054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26522"/>
                </a:solidFill>
              </a:rPr>
              <a:t>NEAR TERM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724912" y="2779776"/>
            <a:ext cx="1554480" cy="18288"/>
          </a:xfrm>
          <a:prstGeom prst="rect">
            <a:avLst/>
          </a:prstGeom>
          <a:solidFill>
            <a:srgbClr val="1E3A5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2651760" y="2852928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8CCE0"/>
                </a:solidFill>
              </a:rPr>
              <a:t>→ Automated GC follow-up sequences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2651760" y="3163824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8CCE0"/>
                </a:solidFill>
              </a:rPr>
              <a:t>→ Bid pipeline / Kanban view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651760" y="3474720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8CCE0"/>
                </a:solidFill>
              </a:rPr>
              <a:t>→ Override capture + recalibration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2651760" y="3785616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8CCE0"/>
                </a:solidFill>
              </a:rPr>
              <a:t>→ Client behavior cards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2651760" y="4096512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8CCE0"/>
                </a:solidFill>
              </a:rPr>
              <a:t>→ Project twin finder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626864" y="1389888"/>
            <a:ext cx="1920240" cy="3529584"/>
          </a:xfrm>
          <a:prstGeom prst="rect">
            <a:avLst/>
          </a:prstGeom>
          <a:solidFill>
            <a:srgbClr val="152236"/>
          </a:solidFill>
          <a:ln/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4626864" y="146304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26522"/>
                </a:solidFill>
              </a:rPr>
              <a:t>3</a:t>
            </a:r>
            <a:endParaRPr lang="en-US" sz="4000" dirty="0"/>
          </a:p>
        </p:txBody>
      </p:sp>
      <p:sp>
        <p:nvSpPr>
          <p:cNvPr id="29" name="Text 27"/>
          <p:cNvSpPr/>
          <p:nvPr/>
        </p:nvSpPr>
        <p:spPr>
          <a:xfrm>
            <a:off x="4718304" y="2121408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GC Intelligence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718304" y="25054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26522"/>
                </a:solidFill>
              </a:rPr>
              <a:t>SCALE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809744" y="2779776"/>
            <a:ext cx="1554480" cy="18288"/>
          </a:xfrm>
          <a:prstGeom prst="rect">
            <a:avLst/>
          </a:prstGeom>
          <a:solidFill>
            <a:srgbClr val="1E3A5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736592" y="2852928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8CCE0"/>
                </a:solidFill>
              </a:rPr>
              <a:t>→ Crowdsourced ghost rates + client reputation scores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736592" y="3163824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8CCE0"/>
                </a:solidFill>
              </a:rPr>
              <a:t>→ Competitor tracking by project type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4736592" y="3474720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8CCE0"/>
                </a:solidFill>
              </a:rPr>
              <a:t>→ User-defined ghost timeline (default 60d)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4736592" y="3785616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8CCE0"/>
                </a:solidFill>
              </a:rPr>
              <a:t>→ Cross-user win-rate benchmarks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4736592" y="4096512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8CCE0"/>
                </a:solidFill>
              </a:rPr>
              <a:t>→ Anonymous aggregate benchmarks by trade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711696" y="1389888"/>
            <a:ext cx="1920240" cy="3529584"/>
          </a:xfrm>
          <a:prstGeom prst="rect">
            <a:avLst/>
          </a:prstGeom>
          <a:solidFill>
            <a:srgbClr val="0D1825"/>
          </a:solidFill>
          <a:ln/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6711696" y="146304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26522"/>
                </a:solidFill>
              </a:rPr>
              <a:t>4</a:t>
            </a:r>
            <a:endParaRPr lang="en-US" sz="4000" dirty="0"/>
          </a:p>
        </p:txBody>
      </p:sp>
      <p:sp>
        <p:nvSpPr>
          <p:cNvPr id="39" name="Text 37"/>
          <p:cNvSpPr/>
          <p:nvPr/>
        </p:nvSpPr>
        <p:spPr>
          <a:xfrm>
            <a:off x="6803136" y="2121408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Platform + Data Products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803136" y="25054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26522"/>
                </a:solidFill>
              </a:rPr>
              <a:t>PLATFORM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894576" y="2779776"/>
            <a:ext cx="1554480" cy="18288"/>
          </a:xfrm>
          <a:prstGeom prst="rect">
            <a:avLst/>
          </a:prstGeom>
          <a:solidFill>
            <a:srgbClr val="1E3A5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6821424" y="2852928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8CCE0"/>
                </a:solidFill>
              </a:rPr>
              <a:t>→ Labor capacity index by location/trade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821424" y="3163824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8CCE0"/>
                </a:solidFill>
              </a:rPr>
              <a:t>→ Two-sided market (GC network access)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6821424" y="3474720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8CCE0"/>
                </a:solidFill>
              </a:rPr>
              <a:t>→ Plan room API integration (BuildingConnected, PlanHub)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6821424" y="3785616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8CCE0"/>
                </a:solidFill>
              </a:rPr>
              <a:t>→ Estimating + takeoff software API (Togal.ai, Stack, On Center)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6821424" y="4096512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8CCE0"/>
                </a:solidFill>
              </a:rPr>
              <a:t>→ Capacity vs. pursuit portfolio view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7132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26522"/>
                </a:solidFill>
              </a:rPr>
              <a:t>WHY BOOST — WHY NOW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95528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We need validation and distribution. Suffolk can provide both.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353312"/>
            <a:ext cx="8229600" cy="786384"/>
          </a:xfrm>
          <a:prstGeom prst="rect">
            <a:avLst/>
          </a:prstGeom>
          <a:solidFill>
            <a:srgbClr val="152236"/>
          </a:solidFill>
          <a:ln w="6350">
            <a:solidFill>
              <a:srgbClr val="1E3A52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66928" y="1353312"/>
            <a:ext cx="6583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26522"/>
                </a:solidFill>
              </a:rPr>
              <a:t>01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1298448" y="1517904"/>
            <a:ext cx="18288" cy="457200"/>
          </a:xfrm>
          <a:prstGeom prst="rect">
            <a:avLst/>
          </a:prstGeom>
          <a:solidFill>
            <a:srgbClr val="2A3A5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4752" y="155448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920240" y="1426464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Problem Validation from the Buyer Side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572000" y="1389888"/>
            <a:ext cx="3913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8CCE0"/>
                </a:solidFill>
              </a:rPr>
              <a:t>BidIntell is built for subs — but the data it collects is about GC behavior. Suffolk operates as a major GC and can help us validate whether the problem we're solving (subs avoiding low-quality clients) maps accurately to what GCs actually experience on their end.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498848" y="1481328"/>
            <a:ext cx="18288" cy="530352"/>
          </a:xfrm>
          <a:prstGeom prst="rect">
            <a:avLst/>
          </a:prstGeom>
          <a:solidFill>
            <a:srgbClr val="2A3A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457200" y="2249424"/>
            <a:ext cx="8229600" cy="786384"/>
          </a:xfrm>
          <a:prstGeom prst="rect">
            <a:avLst/>
          </a:prstGeom>
          <a:solidFill>
            <a:srgbClr val="1A2E45"/>
          </a:solidFill>
          <a:ln w="6350">
            <a:solidFill>
              <a:srgbClr val="1E3A52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566928" y="2249424"/>
            <a:ext cx="6583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26522"/>
                </a:solidFill>
              </a:rPr>
              <a:t>02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1298448" y="2414016"/>
            <a:ext cx="18288" cy="457200"/>
          </a:xfrm>
          <a:prstGeom prst="rect">
            <a:avLst/>
          </a:prstGeom>
          <a:solidFill>
            <a:srgbClr val="2A3A5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4752" y="2450592"/>
            <a:ext cx="347472" cy="34747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920240" y="232257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Autodesk &amp; Procore Ecosystem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4572000" y="2286000"/>
            <a:ext cx="3913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8CCE0"/>
                </a:solidFill>
              </a:rPr>
              <a:t>Both are BOOST partners. Our Autodesk ISV application is in appeal. BOOST relationships accelerate those conversations — and Procore's subcontractor network is a potential future distribution and benchmark channel.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4498848" y="2377440"/>
            <a:ext cx="18288" cy="530352"/>
          </a:xfrm>
          <a:prstGeom prst="rect">
            <a:avLst/>
          </a:prstGeom>
          <a:solidFill>
            <a:srgbClr val="2A3A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457200" y="3145536"/>
            <a:ext cx="8229600" cy="786384"/>
          </a:xfrm>
          <a:prstGeom prst="rect">
            <a:avLst/>
          </a:prstGeom>
          <a:solidFill>
            <a:srgbClr val="152236"/>
          </a:solidFill>
          <a:ln w="6350">
            <a:solidFill>
              <a:srgbClr val="1E3A52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6"/>
          <p:cNvSpPr/>
          <p:nvPr/>
        </p:nvSpPr>
        <p:spPr>
          <a:xfrm>
            <a:off x="566928" y="3145536"/>
            <a:ext cx="6583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26522"/>
                </a:solidFill>
              </a:rPr>
              <a:t>03</a:t>
            </a:r>
            <a:endParaRPr lang="en-US" sz="2200" dirty="0"/>
          </a:p>
        </p:txBody>
      </p:sp>
      <p:sp>
        <p:nvSpPr>
          <p:cNvPr id="21" name="Shape 17"/>
          <p:cNvSpPr/>
          <p:nvPr/>
        </p:nvSpPr>
        <p:spPr>
          <a:xfrm>
            <a:off x="1298448" y="3310128"/>
            <a:ext cx="18288" cy="457200"/>
          </a:xfrm>
          <a:prstGeom prst="rect">
            <a:avLst/>
          </a:prstGeom>
          <a:solidFill>
            <a:srgbClr val="2A3A5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44752" y="3346704"/>
            <a:ext cx="347472" cy="347472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1920240" y="321868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Customer &amp; Channel Introductions</a:t>
            </a:r>
            <a:endParaRPr lang="en-US" sz="1200" dirty="0"/>
          </a:p>
        </p:txBody>
      </p:sp>
      <p:sp>
        <p:nvSpPr>
          <p:cNvPr id="24" name="Text 19"/>
          <p:cNvSpPr/>
          <p:nvPr/>
        </p:nvSpPr>
        <p:spPr>
          <a:xfrm>
            <a:off x="4572000" y="3182112"/>
            <a:ext cx="3913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8CCE0"/>
                </a:solidFill>
              </a:rPr>
              <a:t>BOOST's operating partners include specialty contractors, distributors, and construction companies — our exact ICP. A warm introduction from Suffolk cuts through to buyers who don't respond to cold outreach and won't trial software they haven't heard of.</a:t>
            </a:r>
            <a:endParaRPr lang="en-US" sz="1000" dirty="0"/>
          </a:p>
        </p:txBody>
      </p:sp>
      <p:sp>
        <p:nvSpPr>
          <p:cNvPr id="25" name="Shape 20"/>
          <p:cNvSpPr/>
          <p:nvPr/>
        </p:nvSpPr>
        <p:spPr>
          <a:xfrm>
            <a:off x="4498848" y="3273552"/>
            <a:ext cx="18288" cy="530352"/>
          </a:xfrm>
          <a:prstGeom prst="rect">
            <a:avLst/>
          </a:prstGeom>
          <a:solidFill>
            <a:srgbClr val="2A3A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1"/>
          <p:cNvSpPr/>
          <p:nvPr/>
        </p:nvSpPr>
        <p:spPr>
          <a:xfrm>
            <a:off x="457200" y="4041648"/>
            <a:ext cx="8229600" cy="786384"/>
          </a:xfrm>
          <a:prstGeom prst="rect">
            <a:avLst/>
          </a:prstGeom>
          <a:solidFill>
            <a:srgbClr val="1A2E45"/>
          </a:solidFill>
          <a:ln w="6350">
            <a:solidFill>
              <a:srgbClr val="1E3A52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Text 22"/>
          <p:cNvSpPr/>
          <p:nvPr/>
        </p:nvSpPr>
        <p:spPr>
          <a:xfrm>
            <a:off x="566928" y="4041648"/>
            <a:ext cx="6583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26522"/>
                </a:solidFill>
              </a:rPr>
              <a:t>04</a:t>
            </a:r>
            <a:endParaRPr lang="en-US" sz="2200" dirty="0"/>
          </a:p>
        </p:txBody>
      </p:sp>
      <p:sp>
        <p:nvSpPr>
          <p:cNvPr id="28" name="Shape 23"/>
          <p:cNvSpPr/>
          <p:nvPr/>
        </p:nvSpPr>
        <p:spPr>
          <a:xfrm>
            <a:off x="1298448" y="4206240"/>
            <a:ext cx="18288" cy="457200"/>
          </a:xfrm>
          <a:prstGeom prst="rect">
            <a:avLst/>
          </a:prstGeom>
          <a:solidFill>
            <a:srgbClr val="2A3A5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44752" y="4242816"/>
            <a:ext cx="347472" cy="347472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1920240" y="4114800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Category Credibility</a:t>
            </a:r>
            <a:endParaRPr lang="en-US" sz="1200" dirty="0"/>
          </a:p>
        </p:txBody>
      </p:sp>
      <p:sp>
        <p:nvSpPr>
          <p:cNvPr id="31" name="Text 25"/>
          <p:cNvSpPr/>
          <p:nvPr/>
        </p:nvSpPr>
        <p:spPr>
          <a:xfrm>
            <a:off x="4572000" y="4078224"/>
            <a:ext cx="3913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8CCE0"/>
                </a:solidFill>
              </a:rPr>
              <a:t>We are creating a category — pre-estimating bid intelligence — that does not yet exist as a recognized product type. BOOST's built-world network provides the credibility and feedback to validate whether this framing resonates with buyers beyond our immediate market.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4498848" y="4169664"/>
            <a:ext cx="18288" cy="530352"/>
          </a:xfrm>
          <a:prstGeom prst="rect">
            <a:avLst/>
          </a:prstGeom>
          <a:solidFill>
            <a:srgbClr val="2A3A50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475488" cy="475488"/>
          </a:xfrm>
          <a:prstGeom prst="rect">
            <a:avLst/>
          </a:prstGeom>
          <a:solidFill>
            <a:srgbClr val="F265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1B2A"/>
                </a:solidFill>
              </a:rPr>
              <a:t>BI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005840" y="420624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BidIntell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39319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</a:rPr>
              <a:t>We've launched the product</a:t>
            </a:r>
            <a:endParaRPr lang="en-US" sz="2600" dirty="0"/>
          </a:p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</a:rPr>
              <a:t>and proven the workflow.</a:t>
            </a:r>
            <a:endParaRPr lang="en-US" sz="2600" dirty="0"/>
          </a:p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</a:rPr>
              <a:t>Now we scale it.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2578608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8CCE0"/>
                </a:solidFill>
              </a:rPr>
              <a:t>BidIntell is live, tested with early users, and ready for its first paying customers. We need the right design partners, validation, and distribution to turn an insight into a category-defining construction platform.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3520440"/>
            <a:ext cx="1645920" cy="36576"/>
          </a:xfrm>
          <a:prstGeom prst="rect">
            <a:avLst/>
          </a:prstGeom>
          <a:solidFill>
            <a:srgbClr val="F265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365760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92A8"/>
                </a:solidFill>
              </a:rPr>
              <a:t>Ryan Elder — Founder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389534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26522"/>
                </a:solidFill>
              </a:rPr>
              <a:t>bidintell.ai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413308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92A8"/>
                </a:solidFill>
              </a:rPr>
              <a:t>Overland Park, KS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960120"/>
            <a:ext cx="2286000" cy="3337560"/>
          </a:xfrm>
          <a:prstGeom prst="rect">
            <a:avLst/>
          </a:prstGeom>
          <a:solidFill>
            <a:srgbClr val="152236"/>
          </a:solidFill>
          <a:ln w="6350">
            <a:solidFill>
              <a:srgbClr val="1E3A52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773168" y="1042416"/>
            <a:ext cx="2066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26522"/>
                </a:solidFill>
              </a:rPr>
              <a:t>At a Glance</a:t>
            </a:r>
            <a:endParaRPr lang="en-US" sz="1100" dirty="0"/>
          </a:p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3168" y="1426464"/>
            <a:ext cx="201168" cy="201168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5047488" y="1408176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Live product — April 2026</a:t>
            </a:r>
            <a:endParaRPr lang="en-US" sz="1100" dirty="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3168" y="1847088"/>
            <a:ext cx="201168" cy="20116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047488" y="1828800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Validated with beta users</a:t>
            </a:r>
            <a:endParaRPr lang="en-US" sz="1100" dirty="0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3168" y="2267712"/>
            <a:ext cx="201168" cy="20116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5047488" y="2249424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No direct competitors</a:t>
            </a:r>
            <a:endParaRPr lang="en-US" sz="1100" dirty="0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3168" y="2688336"/>
            <a:ext cx="201168" cy="20116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5047488" y="267004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Founder-market fit</a:t>
            </a:r>
            <a:endParaRPr lang="en-US" sz="1100" dirty="0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3168" y="3108960"/>
            <a:ext cx="201168" cy="201168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5047488" y="3090672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Clear expansion path</a:t>
            </a:r>
            <a:endParaRPr lang="en-US" sz="1100" dirty="0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3168" y="3529584"/>
            <a:ext cx="201168" cy="201168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5047488" y="3511296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BOOST 7 applicant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1771</Words>
  <Application>Microsoft Office PowerPoint</Application>
  <PresentationFormat>On-screen Show (16:9)</PresentationFormat>
  <Paragraphs>240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3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BidIntell — BOOST 7 Pitch Deck</dc:title>
  <dc:subject>PptxGenJS Presentation</dc:subject>
  <dc:creator>Ryan Elder</dc:creator>
  <cp:lastModifiedBy>Ryan Elder</cp:lastModifiedBy>
  <cp:revision>1</cp:revision>
  <dcterms:created xsi:type="dcterms:W3CDTF">2026-04-10T21:27:27Z</dcterms:created>
  <dcterms:modified xsi:type="dcterms:W3CDTF">2026-04-10T21:36:10Z</dcterms:modified>
</cp:coreProperties>
</file>